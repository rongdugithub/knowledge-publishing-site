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74" r:id="rId7"/>
    <p:sldId id="260" r:id="rId8"/>
    <p:sldId id="275" r:id="rId9"/>
    <p:sldId id="276" r:id="rId10"/>
    <p:sldId id="277" r:id="rId11"/>
    <p:sldId id="278" r:id="rId12"/>
    <p:sldId id="279" r:id="rId13"/>
    <p:sldId id="272" r:id="rId14"/>
    <p:sldId id="280" r:id="rId15"/>
    <p:sldId id="281" r:id="rId16"/>
    <p:sldId id="282" r:id="rId17"/>
    <p:sldId id="283" r:id="rId18"/>
    <p:sldId id="284" r:id="rId19"/>
    <p:sldId id="285" r:id="rId20"/>
    <p:sldId id="287" r:id="rId21"/>
    <p:sldId id="288" r:id="rId22"/>
    <p:sldId id="289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这一页作为开场，建议先说明今天不是做一篇论文的深挖，而是先把 AR/XR 眼镜这个领域的“基础语言”和“研究地图”建立起来。
你可以这样讲：今天的主线是从“什么是 AR/VR/XR”开始，然后解释一副 XR 眼镜为什么不是普通摄像头，也不是缩小版手机，而是一个第一人称、多传感器、持续运行的空间计算平台。最后我会把最近一年相关论文按技术链路组织起来：从感知、定位、空间理解、用户理解、交互意图、预测、记忆，一直到可执行的 wearable assistant。这样后面精讲 EgoPoseFormer v2 时，大家能知道它处在整条技术栈的哪个位置。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这一页要解决的是概念边界。建议不要陷入术语争论，只讲最实用的区别。
AR 是在真实世界上叠加数字内容，比如在真实桌面上显示箭头、标签、导航线。关键是用户仍然直接面对现实环境。
VR 是把视觉环境替换成完全虚拟空间，用户主要看到的是计算机生成的世界。它强调沉浸感、头手追踪、低延迟渲染。
XR 是一个 umbrella term，用来统一讨论 AR、VR、MR 等 reality-related systems。OpenXR 这样的标准也是把 AR 和 VR 统称为 XR 平台来处理。
这页最后要强调：我们今天说 AR/XR glasses，不只是说有一个显示器，而是说设备正在变成一个可以理解真实世界的第一人称计算平台。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这一页介绍硬件和底层技术栈。建议按照“输入、状态、输出、算力”四个词讲。
输入包括 RGB 或 depth camera、eye camera、IMU、microphone。RGB/Depth 负责观察环境；eye tracking 负责知道用户看哪里；IMU 负责快速运动；microphone 负责语音和环境声音。
状态估计主要靠 VIO/SLAM。VIO 结合视觉和惯性，估计设备的 6DoF pose；SLAM 在定位的同时建立环境地图。没有这个，虚拟内容无法稳定地贴在真实世界上。
输出包括 display/optics 和 speaker。显示侧有 optical see-through、video see-through、waveguide、micro-OLED/micro-LED 等路线，但这次组会不用深入光学，只要说明显示不是唯一核心。
最后是 on-device compute。眼镜必须低延迟、低功耗，不能像服务器模型那样无限消耗算力，所以很多论文会特别强调 latency、memory、energy。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这一页用流程把底层技术串起来。
第一步是 sensing：设备持续收集 RGB、IMU、眼动、语音等信息。第二步是 VIO/SLAM：系统估计眼镜的位置和运动，并建立环境地图。第三步是 world coordinates：所有内容都要进入统一的 3D 坐标系。第四步 perception：识别物体、人、手、动作。第五步 interaction：把 gaze、hand、voice 等信号转成用户意图。第六步 rendering：把视觉或音频反馈给用户。
这页最重要的一句话是：XR 不是单纯“看图回答问题”，而是每一帧都在更新一个关于世界和用户的状态估计。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这一页用流程把底层技术串起来。
第一步是 sensing：设备持续收集 RGB、IMU、眼动、语音等信息。第二步是 VIO/SLAM：系统估计眼镜的位置和运动，并建立环境地图。第三步是 world coordinates：所有内容都要进入统一的 3D 坐标系。第四步 perception：识别物体、人、手、动作。第五步 interaction：把 gaze、hand、voice 等信号转成用户意图。第六步 rendering：把视觉或音频反馈给用户。
这页最重要的一句话是：XR 不是单纯“看图回答问题”，而是每一帧都在更新一个关于世界和用户的状态估计。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这一页先给整个 survey 定主线。不要从论文开始讲，而是从一副 AR/XR 眼镜真正运行时需要完成的链条讲：首先它要感知现实世界，然后通过 VIO/SLAM 知道自己在三维空间的位置；接下来要理解这个空间中有什么，人在哪里，物体在哪里；再往后，系统要理解佩戴者本人，包括手、身体、视线、语音和动作；最后才会进入更高层的预测、记忆和 Agent。
所以最近一年这些论文看起来很分散，有的做 3D reconstruction，有的做 pose，有的做 gaze，有的做 LLM agent，但其实都可以放进同一个 pipeline 里面。我的调研结论是：AR/XR 眼镜不再只是一个显示设备，而正在变成持续运行的第一人称空间计算平台。后面的每一页，我会按照这个逻辑，一页讲一个研究方向：这个方向主要做什么、为什么重要、代表论文是什么。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 3D 空间智能。传统 computer vision 很多时候只需要回答“图里有什么”，例如图里有一把椅子、一个杯子、一个人。但对于 AR/XR 眼镜来说，这远远不够。因为虚拟内容如果要稳定地放在真实世界里，系统必须知道真实物体在三维空间中的位置、距离、方向和大小。
所以这个方向的核心变化是：从 2D recognition 走向 metric 3D understanding。EgoXtreme 关注第一人称视角下的 6D object pose，也就是物体在哪里、朝向哪里。LAMP 关注人这个动态目标在真实三维世界中的 tracking。Ego-1K 则提供大规模 egocentric multiview video，推动从第一人称视频做 3D/4D reconstruction。R3D 更进一步，关心 wearable assistant 能不能回答“这个物体离我多远”“哪个更高”这类定量空间问题。
这里我想强调的是：3D 空间智能不是为了做一个更漂亮的识别结果，而是为了让 AR/MR 中的虚拟对象真正进入真实世界的坐标系。没有这一层，虚拟内容就只能像 HUD 一样漂在屏幕上；有了这一层，虚拟内容才可以被放到桌子上、墙上，甚至和真实物体发生交互。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这一页讲第一人称人体理解。AR/XR 眼镜的一个特殊点是，相机和用户的头绑在一起，所以它看到的不只是外部世界，也间接反映了佩戴者本人在做什么。对于未来的 XR 系统来说，只理解“场景里有什么”是不够的，它还要理解“我正在做什么、我的手在哪里、我的身体是什么姿态、我正在和哪个物体交互”。
这里有几个核心难点。第一，头戴相机视角非常特殊，手经常很近、变形很大，身体的很多部位甚至根本不在视野里。第二，遮挡很严重，比如手拿着物体时，手和物体会互相遮挡。第三，真实 AR/VR 应用需要实时、稳定的结果，不能抖动很大。
代表工作里，EgoPoseFormer v2 是一个很好的 anchor paper：它从 head-mounted cameras 估计完整人体运动，使用时空 Transformer 和半监督 auto-labeling 来解决 labeled data 不足的问题。EvaPose/Eva-3M 强调 visible 和 invisible keypoints 不应该一视同仁，显式加入 visibility。EgoForce 做的是头戴单目相机下的 3D hand reconstruction。SHOW3D 则从数据角度推进真实手-物交互的 3D 标注。
这一方向的意义是：XR 不是第三人称摄像头，而是 wearer-centric sensing。系统未来要辅助人，就必须理解这个“人”正在做什么。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这一页讲多模态交互和意图理解。传统电脑有鼠标和键盘，手机有触摸屏，但眼镜没有一个自然的大屏输入界面。所以 XR 的交互很大程度上依赖人的身体信号：眼睛看哪里、手指指哪里、嘴里说什么，以及当前场景上下文是什么。
这里最典型的问题是指代消解。比如用户看着桌上的一个杯子，说“这个多少钱？”单看语言，“这个”没有明确含义；单看图像，桌上可能有很多物体；单看 gaze，又不能确定“看”就是“选择”。但如果把 gaze、gesture、voice 和 visual context 融合起来，系统就能判断这个“这个”到底对应哪个物体。
EgoPointVQA 直接研究基于 pointing gesture 的第一人称 VQA，并提出 HINT，把 3D hand keypoints 变成显式 token，帮助 MLLM 理解指向。Gazeify Then Voiceify 研究 displayless smart glasses 上的 gaze + voice 物体选择；SurfaceXR 说明仅靠空中手势可能疲劳和不准，于是融合 smartwatch IMU 和 headset hand tracking，把普通桌面变成交互表面。SpeechLess 则提醒我们，眼镜上的语音交互不能假设用户愿意反复完整说出需求，空间记忆可以减少表达负担。
这个方向的核心不是“多加几个输入模态”，而是从 input recognition 走向 intent grounding：系统要知道用户真正想操作什么。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 4D 统一重建。这里的 4D 可以简单理解成 3D 空间再加上时间。前面我们讲 3D 空间智能和人体理解时，很多任务是分开的：一个模型估计 camera trajectory，一个模型估计 depth，一个模型估计 hand pose，一个模型估计 gaze，一个模型估计 body pose。但是现实 XR 系统中，这些变量并不是独立的。用户怎么移动会影响相机轨迹；手在哪里会影响看到的物体；场景几何又反过来约束人的动作。
所以最近一个趋势是：不要把 viewer 和 view 分开建模，而是尝试用一个统一的时空表示同时恢复“看的人”和“被看的世界”。ReViV 就是这个方向的典型例子，它从单目 egocentric RGB video 中联合估计 body、hand、gaze、camera trajectory 和 depth。Seeing without Pixels 则提出一个非常有趣的观点：相机运动轨迹本身已经包含很多语义，因为第一人称相机的运动往往反映了人的意图和动作。AViON4D 和 EgoTrack3D 则分别从开放词汇4D理解和动态3D物体跟踪推进这个问题。
这一页的重点是：XR 的状态不是静态图像，而是一个持续演化的 viewer-world system。未来系统可能不会再简单堆多个独立模块，而是学习一个统一的 egocentric 4D world state。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这一页讲预测与世界模型。到目前为止，前面的方向主要回答“现在是什么”：我在哪里、周围有什么、用户正在做什么。但一个真正有用的 XR assistant 不能只在事情发生后回答问题，它需要提前判断接下来可能发生什么。
例如用户正在厨房切菜，手离刀越来越近。系统如果只能识别“用户正在切菜”，这还是 reactive perception；更有价值的是预测“下一步可能有危险”，甚至提前提醒。再比如用户伸手去抓一个物体，系统如果能预测抓取之后场景会如何变化，就可以支持更自然的虚实交互和机器人学习。
Dexterous World Models 是这一方向很典型的工作。它把一个静态3D场景和第一人称手部动作作为条件，生成 plausible human-scene interaction videos。本质上，它把静态 digital twin 往可交互 world model 推进。Prototypical Action Reasoning 代表的是 action anticipation 方向，目标是从当前第一人称视频预测未来动作。Seeing without Pixels 则说明 camera trajectory 本身就带有意图信息，这对预测很重要。Video Spatial Reasoning with Object-Centric 3D Rollout 体现了通过显式3D rollout 做动态空间推理的趋势。
所以这页的核心是：XR 研究正在从 perception 走向 prediction。未来助手不是只问答当前画面，而是用 world model 支持 proactive assistance。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这一页讲可穿戴助手与 Agent。过去大家说 agent，常常默认输入来自网页、文档、API 或聊天窗口。但 smart glasses 带来了一个新的入口：用户眼前的现实世界。Agent 不再只是处理 digital context，而是从 physical context 出发执行 digital action。
VisionClaw 是非常直观的例子。用户通过眼镜看到一个商品、海报或现实对象，然后用语音发起任务；系统把实时第一人称感知连接到 agent backend，执行网页、应用或其他工具任务。Egocentric Co-Pilot 更强调 neuro-symbolic framework：LLM 不是单独解决所有问题，而是作为 orchestrator，调度 perception tools、reasoning tools 和 web tools。Memento 虽然更偏记忆，但它体现了 proactive assistant 的方向：系统不是只等待用户问，而是基于语境主动呈现相关信息。
这个方向的核心变化是：Agent 的上下文从“用户输入的一段文本”扩展为“用户正在看的现实世界”。这也提出新的技术问题：什么现实信息应该进入上下文？什么时候要继续观察？什么时候可以行动？行动前需要怎样的证据？
所以可穿戴 agent 的研究不是简单把 LLM 接到摄像头上，而是要解决 perception、memory、intent、tool use 和安全决策之间的系统耦合。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这一页讲系统约束与隐私。前面所有方向都假设眼镜可以持续感知、理解、记忆和行动。但现实中，眼镜不是服务器，它戴在人的脸上，体积、电池、散热、网络和隐私都非常受限。所以对于 AR/XR 眼镜来说，系统约束不是最后再优化的小问题，而是从一开始就决定研究路线的核心变量。
EPIC 的问题非常典型：如果眼镜一直记录高分辨率第一人称视频，存储、计算和能耗都会爆炸。它利用 gaze、pose 和 IMU 推断哪些信息更重要，从而只保留更有价值的部分。OpenGlass 则从硬件平台角度探索 event-based camera 和 on-device ML，目标是在极低功耗下做手势识别。TinyDEVO 说明 event-based sensing 也可以用于低功耗 visual odometry。
隐私同样关键。AR 眼镜的 camera 看到的不只是佩戴者本人，还会看到路人、家人、电脑屏幕、文件和私人空间。VisGuardian 研究在 AR glasses 中做细粒度视觉权限控制，让用户可以按对象类别、隐私敏感度或空间关系快速遮挡数据。
这页的结论是：wearable AI 的目标不是把最大模型直接塞进眼镜，而是在 accuracy、latency、energy、memory 和 privacy 之间找到可用的系统设计。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最后这页做一个总结。近一年 AR/XR 眼镜相关工作看起来横跨 computer vision、graphics、HCI、LLM agent 和 systems，但我认为主线正在收敛。
第一是空间化：从二维图像识别走向可度量的 3D/4D 世界状态。第二是以人为中心：不只是理解场景，而是理解佩戴者本人的手、身体、视线、语音、动作和意图。第三是长期化：眼镜的价值来自持续陪伴，所以 memory、life stream 和 personalization 变得重要。第四是行动化：系统不只是回答图像问题，而是把第一人称现实感知连接到任务执行和工具调用。第五是系统化：可穿戴设备必须真正跑得住，所以 energy、latency、memory 和 privacy 是核心问题。
因此我对这个领域的整体判断是：AR/XR 眼镜正在把 AI 的输入形态从“用户上传的一张图片”改成“持续的第一人称、多传感器、空间化 observation stream”。未来真正困难的问题，是如何让 AI 持续理解“我、世界，以及我和世界之间正在发生的关系”。后面如果我们深入讲 EgoPoseFormer v2，就可以把它放在这个大图里面：它主要解决的是其中“以人为中心的人体运动理解”这一层。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1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2" Type="http://schemas.openxmlformats.org/officeDocument/2006/relationships/notesSlide" Target="../notesSlides/notesSlide14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18.xml"/><Relationship Id="rId2" Type="http://schemas.openxmlformats.org/officeDocument/2006/relationships/tags" Target="../tags/tag100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51231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1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Toward Intelligent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081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AR/XR Glasses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76656" y="2852928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B7E"/>
                </a:solidFill>
              </a:rPr>
              <a:t>Survey: concepts, technical stack, and 2026 research directions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5257800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531266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7FF9"/>
                </a:solidFill>
              </a:rPr>
              <a:t>AR / VR / XR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5257800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EBF8F2"/>
          </a:solidFill>
          <a:ln w="12700">
            <a:solidFill>
              <a:srgbClr val="EBF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5312664"/>
            <a:ext cx="177393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B47E"/>
                </a:solidFill>
              </a:rPr>
              <a:t>Egocentric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5257800"/>
            <a:ext cx="2103120" cy="310896"/>
          </a:xfrm>
          <a:prstGeom prst="roundRect">
            <a:avLst>
              <a:gd name="adj" fmla="val 35294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5312664"/>
            <a:ext cx="19568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CF6"/>
                </a:solidFill>
              </a:rPr>
              <a:t>Wearable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 / VR / XR：先区分概念</a:t>
            </a:r>
            <a:endParaRPr lang="en-US" sz="32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31520" y="1508760"/>
            <a:ext cx="3154680" cy="35661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2039112" y="1874520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2039112" y="198424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AR</a:t>
            </a:r>
            <a:endParaRPr lang="en-US" sz="13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05840" y="27432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8152D"/>
                </a:solidFill>
              </a:rPr>
              <a:t>AR</a:t>
            </a:r>
            <a:endParaRPr lang="en-US" sz="25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33192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32"/>
                </a:solidFill>
              </a:rPr>
              <a:t>真实世界 + 数字叠加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051560" y="3840480"/>
            <a:ext cx="2514600" cy="5029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7E"/>
                </a:solidFill>
              </a:rPr>
              <a:t>虚拟内容贴在现实上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4526280" y="1508760"/>
            <a:ext cx="3154680" cy="35661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5833872" y="1874520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5833872" y="198424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VR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800600" y="27432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8152D"/>
                </a:solidFill>
              </a:rPr>
              <a:t>VR</a:t>
            </a:r>
            <a:endParaRPr lang="en-US" sz="25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4846320" y="33192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32"/>
                </a:solidFill>
              </a:rPr>
              <a:t>完全虚拟环境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4846320" y="3840480"/>
            <a:ext cx="2514600" cy="5029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7E"/>
                </a:solidFill>
              </a:rPr>
              <a:t>现实视觉被替换</a:t>
            </a:r>
            <a:endParaRPr lang="en-US" sz="1300" dirty="0"/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8321040" y="1508760"/>
            <a:ext cx="3154680" cy="356616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9628632" y="1874520"/>
            <a:ext cx="530352" cy="530352"/>
          </a:xfrm>
          <a:prstGeom prst="ellipse">
            <a:avLst/>
          </a:prstGeom>
          <a:solidFill>
            <a:srgbClr val="EBF8F2"/>
          </a:solidFill>
          <a:ln w="12700">
            <a:solidFill>
              <a:srgbClr val="EBF8F2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9628632" y="198424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B47E"/>
                </a:solidFill>
              </a:rPr>
              <a:t>XR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8595360" y="27432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8152D"/>
                </a:solidFill>
              </a:rPr>
              <a:t>XR</a:t>
            </a:r>
            <a:endParaRPr lang="en-US" sz="2500" dirty="0"/>
          </a:p>
        </p:txBody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8641080" y="33192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32"/>
                </a:solidFill>
              </a:rPr>
              <a:t>总称 / umbrella term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8641080" y="3840480"/>
            <a:ext cx="2514600" cy="5029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7E"/>
                </a:solidFill>
              </a:rPr>
              <a:t>覆盖 AR、VR、MR 等形态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34440" y="5715000"/>
            <a:ext cx="9692640" cy="0"/>
          </a:xfrm>
          <a:prstGeom prst="line">
            <a:avLst/>
          </a:prstGeom>
          <a:noFill/>
          <a:ln w="38100">
            <a:solidFill>
              <a:srgbClr val="D9E4F1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77240" y="5577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B47E"/>
                </a:solidFill>
              </a:rPr>
              <a:t>More real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78440" y="557784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4CF6"/>
                </a:solidFill>
              </a:rPr>
              <a:t>More virtual</a:t>
            </a:r>
            <a:endParaRPr lang="en-US" sz="11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635" y="-1905"/>
            <a:ext cx="12191365" cy="6861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AR/XR 眼镜的底层技术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89120" y="32461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B7E"/>
                </a:solidFill>
              </a:rPr>
              <a:t>wearable spatial computer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41732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1508760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61848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64208" y="159105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Display / Optics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64208" y="184708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visual output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237744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7552" y="2468880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57860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64208" y="255117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RGB / Depth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64208" y="28072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world 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33756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" y="3429000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3872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64208" y="351129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Eye Tracking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64208" y="37673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attention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429768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7552" y="4389120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449884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64208" y="447141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IMU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64208" y="472744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fast motion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38160" y="141732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8472" y="1508760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8472" y="161848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V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25128" y="159105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VIO / SLAM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25128" y="184708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pose + map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38160" y="237744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48472" y="2468880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257860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25128" y="255117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Hand Tracking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025128" y="28072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input + action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38160" y="333756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48472" y="3429000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48472" y="353872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25128" y="351129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Audio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25128" y="37673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speech + context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138160" y="4297680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348472" y="4389120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48472" y="449884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025128" y="447141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2"/>
                </a:solidFill>
              </a:rPr>
              <a:t>On-device Compute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025128" y="472744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E"/>
                </a:solidFill>
              </a:rPr>
              <a:t>latency + privacy</a:t>
            </a:r>
            <a:endParaRPr lang="en-US" sz="900" dirty="0"/>
          </a:p>
        </p:txBody>
      </p:sp>
      <p:pic>
        <p:nvPicPr>
          <p:cNvPr id="51" name="图片 50" descr="ChatGPT Image 2026年8月13日 01_12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1206e3e-ca95-4a43-be9d-3859416bbf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" y="2085340"/>
            <a:ext cx="4000500" cy="208089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065" y="2085975"/>
            <a:ext cx="4008755" cy="208026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030" y="2085975"/>
            <a:ext cx="4003675" cy="209105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1590040" y="4438015"/>
            <a:ext cx="1010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688965" y="4438015"/>
            <a:ext cx="1010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283825" y="4438015"/>
            <a:ext cx="1010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光波导</a:t>
            </a:r>
            <a:endParaRPr lang="zh-CN" altLang="en-US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04c888d-2ace-409f-8466-0dbf923d213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9c0311b3-349e-4966-8da9-bde5996d89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e1705433-746d-4d8d-960b-125619e7e7f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b5c942a-8505-4000-9e59-9c40e155f03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167f4f6-a94c-44e1-856c-682920d7f4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XR 系统如何工作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233172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2532888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9576" y="264261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2"/>
                </a:solidFill>
              </a:rPr>
              <a:t>Sensing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5753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E"/>
                </a:solidFill>
              </a:rPr>
              <a:t>RGB / IMU / Eye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21992" y="3172968"/>
            <a:ext cx="301752" cy="0"/>
          </a:xfrm>
          <a:prstGeom prst="line">
            <a:avLst/>
          </a:prstGeom>
          <a:noFill/>
          <a:ln w="17780">
            <a:solidFill>
              <a:srgbClr val="D9E4F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42032" y="233172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35808" y="2532888"/>
            <a:ext cx="530352" cy="530352"/>
          </a:xfrm>
          <a:prstGeom prst="ellipse">
            <a:avLst/>
          </a:prstGeom>
          <a:solidFill>
            <a:srgbClr val="EBF8F2"/>
          </a:solidFill>
          <a:ln w="12700">
            <a:solidFill>
              <a:srgbClr val="EBF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64261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B47E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3472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2"/>
                </a:solidFill>
              </a:rPr>
              <a:t>VIO / SLAM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35753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E"/>
                </a:solidFill>
              </a:rPr>
              <a:t>Pose / Map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78224" y="3172968"/>
            <a:ext cx="301752" cy="0"/>
          </a:xfrm>
          <a:prstGeom prst="line">
            <a:avLst/>
          </a:prstGeom>
          <a:noFill/>
          <a:ln w="17780">
            <a:solidFill>
              <a:srgbClr val="D9E4F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98264" y="233172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532888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64261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9704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2"/>
                </a:solidFill>
              </a:rPr>
              <a:t>World Coordinates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9704" y="35753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E"/>
                </a:solidFill>
              </a:rPr>
              <a:t>3D Space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34456" y="3172968"/>
            <a:ext cx="301752" cy="0"/>
          </a:xfrm>
          <a:prstGeom prst="line">
            <a:avLst/>
          </a:prstGeom>
          <a:noFill/>
          <a:ln w="17780">
            <a:solidFill>
              <a:srgbClr val="D9E4F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54496" y="233172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2532888"/>
            <a:ext cx="530352" cy="530352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64261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7FF9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45936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2"/>
                </a:solidFill>
              </a:rPr>
              <a:t>Perception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35753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E"/>
                </a:solidFill>
              </a:rPr>
              <a:t>Objects / People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90688" y="3172968"/>
            <a:ext cx="301752" cy="0"/>
          </a:xfrm>
          <a:prstGeom prst="line">
            <a:avLst/>
          </a:prstGeom>
          <a:noFill/>
          <a:ln w="17780">
            <a:solidFill>
              <a:srgbClr val="D9E4F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10728" y="233172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04504" y="2532888"/>
            <a:ext cx="530352" cy="530352"/>
          </a:xfrm>
          <a:prstGeom prst="ellipse">
            <a:avLst/>
          </a:prstGeom>
          <a:solidFill>
            <a:srgbClr val="EBF8F2"/>
          </a:solidFill>
          <a:ln w="12700">
            <a:solidFill>
              <a:srgbClr val="EBF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04504" y="264261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B47E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02168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2"/>
                </a:solidFill>
              </a:rPr>
              <a:t>Interaction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02168" y="35753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E"/>
                </a:solidFill>
              </a:rPr>
              <a:t>Gaze / Hand / Voice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46920" y="3172968"/>
            <a:ext cx="301752" cy="0"/>
          </a:xfrm>
          <a:prstGeom prst="line">
            <a:avLst/>
          </a:prstGeom>
          <a:noFill/>
          <a:ln w="17780">
            <a:solidFill>
              <a:srgbClr val="D9E4F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66960" y="233172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EF8"/>
            </a:solidFill>
            <a:prstDash val="solid"/>
          </a:ln>
          <a:effectLst>
            <a:outerShdw blurRad="12700" dist="50800" dir="2700000" algn="bl" rotWithShape="0">
              <a:srgbClr val="D0DAE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60736" y="2532888"/>
            <a:ext cx="530352" cy="530352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60736" y="264261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CF6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0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2"/>
                </a:solidFill>
              </a:rPr>
              <a:t>Rendering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0" y="35753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E"/>
                </a:solidFill>
              </a:rPr>
              <a:t>Visual / Audio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1560" y="5166360"/>
            <a:ext cx="10058400" cy="502920"/>
          </a:xfrm>
          <a:prstGeom prst="roundRect">
            <a:avLst>
              <a:gd name="adj" fmla="val 2727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4440" y="5330952"/>
            <a:ext cx="9692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D"/>
                </a:solidFill>
              </a:rPr>
              <a:t>关键：每一帧都要把传感器数据转成稳定的世界状态</a:t>
            </a:r>
            <a:endParaRPr lang="en-US" sz="1400" dirty="0"/>
          </a:p>
        </p:txBody>
      </p:sp>
      <p:pic>
        <p:nvPicPr>
          <p:cNvPr id="40" name="图片 39" descr="042c8308-0714-43f0-ae17-3c0f8ad3b7b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0970" y="-82550"/>
            <a:ext cx="12332335" cy="69411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AR/XR 眼镜：近一年课题方向调研</a:t>
            </a:r>
            <a:endParaRPr lang="en-US" sz="28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主线：从第一人称感知，到空间理解，再到长期个性化与可穿戴智能体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2066544"/>
            <a:ext cx="256032" cy="256032"/>
          </a:xfrm>
          <a:prstGeom prst="ellipse">
            <a:avLst/>
          </a:prstGeom>
          <a:solidFill>
            <a:srgbClr val="2F80ED">
              <a:alpha val="90000"/>
            </a:srgbClr>
          </a:solidFill>
          <a:ln w="12700">
            <a:solidFill>
              <a:srgbClr val="2F80ED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sensor</a:t>
            </a:r>
            <a:endParaRPr lang="en-US" sz="850" dirty="0">
              <a:solidFill>
                <a:srgbClr val="53617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01368" y="2404872"/>
            <a:ext cx="210312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2066544"/>
            <a:ext cx="256032" cy="256032"/>
          </a:xfrm>
          <a:prstGeom prst="ellipse">
            <a:avLst/>
          </a:prstGeom>
          <a:solidFill>
            <a:srgbClr val="2F80ED">
              <a:alpha val="90000"/>
            </a:srgbClr>
          </a:solidFill>
          <a:ln w="12700">
            <a:solidFill>
              <a:srgbClr val="2F80ED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8483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pose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18688" y="2404872"/>
            <a:ext cx="210312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04488" y="2066544"/>
            <a:ext cx="256032" cy="256032"/>
          </a:xfrm>
          <a:prstGeom prst="ellipse">
            <a:avLst/>
          </a:prstGeom>
          <a:solidFill>
            <a:srgbClr val="2F80ED">
              <a:alpha val="90000"/>
            </a:srgbClr>
          </a:solidFill>
          <a:ln w="12700">
            <a:solidFill>
              <a:srgbClr val="2F80ED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空间理解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0215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36008" y="2404872"/>
            <a:ext cx="210312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21808" y="2066544"/>
            <a:ext cx="256032" cy="256032"/>
          </a:xfrm>
          <a:prstGeom prst="ellipse">
            <a:avLst/>
          </a:prstGeom>
          <a:solidFill>
            <a:srgbClr val="28B8A8">
              <a:alpha val="90000"/>
            </a:srgbClr>
          </a:solidFill>
          <a:ln w="12700">
            <a:solidFill>
              <a:srgbClr val="28B8A8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用户理解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947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wearer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53328" y="2404872"/>
            <a:ext cx="210312" cy="0"/>
          </a:xfrm>
          <a:prstGeom prst="line">
            <a:avLst/>
          </a:prstGeom>
          <a:noFill/>
          <a:ln w="20320">
            <a:solidFill>
              <a:srgbClr val="28B8A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39128" y="2066544"/>
            <a:ext cx="256032" cy="256032"/>
          </a:xfrm>
          <a:prstGeom prst="ellipse">
            <a:avLst/>
          </a:prstGeom>
          <a:solidFill>
            <a:srgbClr val="28B8A8">
              <a:alpha val="90000"/>
            </a:srgbClr>
          </a:solidFill>
          <a:ln w="12700">
            <a:solidFill>
              <a:srgbClr val="28B8A8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意图交互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3679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intent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70648" y="2404872"/>
            <a:ext cx="210312" cy="0"/>
          </a:xfrm>
          <a:prstGeom prst="line">
            <a:avLst/>
          </a:prstGeom>
          <a:noFill/>
          <a:ln w="20320">
            <a:solidFill>
              <a:srgbClr val="28B8A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8096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6448" y="2066544"/>
            <a:ext cx="256032" cy="256032"/>
          </a:xfrm>
          <a:prstGeom prst="ellipse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5411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future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887968" y="2404872"/>
            <a:ext cx="210312" cy="0"/>
          </a:xfrm>
          <a:prstGeom prst="line">
            <a:avLst/>
          </a:prstGeom>
          <a:noFill/>
          <a:ln w="2032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9828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73768" y="2066544"/>
            <a:ext cx="256032" cy="256032"/>
          </a:xfrm>
          <a:prstGeom prst="ellipse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143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7143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memory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305288" y="2404872"/>
            <a:ext cx="210312" cy="0"/>
          </a:xfrm>
          <a:prstGeom prst="line">
            <a:avLst/>
          </a:prstGeom>
          <a:noFill/>
          <a:ln w="20320">
            <a:solidFill>
              <a:srgbClr val="7B61F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515600" y="192024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991088" y="2066544"/>
            <a:ext cx="256032" cy="256032"/>
          </a:xfrm>
          <a:prstGeom prst="ellipse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88752" y="2423160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助手</a:t>
            </a:r>
            <a:r>
              <a:rPr lang="en-US" sz="12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/Agent</a:t>
            </a:r>
            <a:endParaRPr lang="en-US" sz="12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588752" y="2651760"/>
            <a:ext cx="10607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4672" y="37947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87552" y="4069080"/>
            <a:ext cx="1874520" cy="0"/>
          </a:xfrm>
          <a:prstGeom prst="line">
            <a:avLst/>
          </a:prstGeom>
          <a:noFill/>
          <a:ln w="30480">
            <a:solidFill>
              <a:srgbClr val="2F80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4169664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底层空间能力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69264" y="447141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88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空间智能 · </a:t>
            </a: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4D重建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3611880" y="37947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94760" y="4069080"/>
            <a:ext cx="1874520" cy="0"/>
          </a:xfrm>
          <a:prstGeom prst="line">
            <a:avLst/>
          </a:prstGeom>
          <a:noFill/>
          <a:ln w="30480">
            <a:solidFill>
              <a:srgbClr val="28B8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4169664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用户与交互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776472" y="447141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人体理解 ·</a:t>
            </a: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 gaze/gesture/voice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419088" y="37947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601968" y="4069080"/>
            <a:ext cx="1874520" cy="0"/>
          </a:xfrm>
          <a:prstGeom prst="line">
            <a:avLst/>
          </a:prstGeom>
          <a:noFill/>
          <a:ln w="30480">
            <a:solidFill>
              <a:srgbClr val="7B61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01968" y="4169664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高层智能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83680" y="447141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 · 记忆 · </a:t>
            </a:r>
            <a:r>
              <a:rPr lang="en-US" sz="8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Agent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9226296" y="37947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409176" y="4069080"/>
            <a:ext cx="1874520" cy="0"/>
          </a:xfrm>
          <a:prstGeom prst="line">
            <a:avLst/>
          </a:prstGeom>
          <a:noFill/>
          <a:ln w="30480">
            <a:solidFill>
              <a:srgbClr val="5361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09176" y="4169664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系统约束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390888" y="447141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 · 功耗 · 隐私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04545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一句话：XR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的研究对象正在从“显示设备”变成“持续第一人称空间计算平台”</a:t>
            </a:r>
            <a:endParaRPr lang="en-US" sz="13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方向一：</a:t>
            </a:r>
            <a:r>
              <a:rPr lang="en-US" sz="280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空间智能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从“看见物体”走向“知道物体在三维世界中的位置、距离和朝向”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定位物体</a:t>
            </a:r>
            <a:r>
              <a:rPr lang="en-US" sz="140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/</a:t>
            </a:r>
            <a:r>
              <a:rPr lang="en-US" sz="140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人在真实</a:t>
            </a:r>
            <a:r>
              <a:rPr lang="en-US" sz="140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40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 </a:t>
            </a:r>
            <a:r>
              <a:rPr lang="en-US" sz="130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metric depth / pose / map</a:t>
            </a:r>
            <a:endParaRPr lang="en-US" sz="1300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让虚拟内容可被空间锚定</a:t>
            </a:r>
            <a:endParaRPr lang="en-US" sz="1400" dirty="0">
              <a:solidFill>
                <a:srgbClr val="081A36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2D</a:t>
            </a:r>
            <a:r>
              <a:rPr lang="en-US" sz="11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 → 可度量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1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世界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EgoXtreme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</a:t>
            </a:r>
            <a:r>
              <a:rPr lang="en-US" sz="950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·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egocentric 6D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object pose</a:t>
            </a:r>
            <a:endParaRPr lang="en-US" sz="9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极端第一人称视角下的物体</a:t>
            </a:r>
            <a:r>
              <a:rPr lang="en-US" altLang="zh-CN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altLang="zh-CN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6D pose estimators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数据集。</a:t>
            </a:r>
            <a:endParaRPr lang="en-US" sz="1050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LAMP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</a:t>
            </a:r>
            <a:r>
              <a:rPr lang="en-US" sz="950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·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metric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 people tracking</a:t>
            </a:r>
            <a:endParaRPr lang="en-US" sz="95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从多摄像头眼镜视角追踪人在真实三维坐标中的位置。</a:t>
            </a:r>
            <a:endParaRPr lang="en-US" sz="1050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4160520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Ego-1K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</a:t>
            </a:r>
            <a:r>
              <a:rPr lang="en-US" sz="950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egocentric multiview video</a:t>
            </a:r>
            <a:endParaRPr lang="en-US" sz="95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大规模多视角第一人称视频，推动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3D/4D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重建。</a:t>
            </a:r>
            <a:endParaRPr lang="en-US" sz="1050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7909433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R3D</a:t>
            </a:r>
            <a:endParaRPr lang="en-US" sz="1350" dirty="0"/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</a:t>
            </a:r>
            <a:r>
              <a:rPr lang="en-US" sz="950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· 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egocentric 3D reasoning</a:t>
            </a:r>
            <a:endParaRPr lang="en-US" sz="950" dirty="0">
              <a:solidFill>
                <a:srgbClr val="2F80ED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RGB-D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与几何工具回答定量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空间问题。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承接底层技术：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SLAM</a:t>
            </a:r>
            <a:r>
              <a:rPr lang="en-US" sz="13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给坐标系，</a:t>
            </a:r>
            <a:r>
              <a:rPr lang="en-US" sz="13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3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感知让世界“可操作”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方向二：第一人称人体理解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眼镜不只看世界，还要理解佩戴者的手、身体、动作和交互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28B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重建手部</a:t>
            </a:r>
            <a:r>
              <a:rPr lang="en-US" sz="145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/</a:t>
            </a: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身体</a:t>
            </a:r>
            <a:r>
              <a:rPr lang="en-US" sz="145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理解动作与人</a:t>
            </a:r>
            <a:r>
              <a:rPr lang="en-US" sz="145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-</a:t>
            </a: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物交互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处理遮挡与身体不可见问题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8B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120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understand </a:t>
            </a: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the </a:t>
            </a:r>
            <a:r>
              <a:rPr lang="en-US" sz="120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wearer</a:t>
            </a:r>
            <a:endParaRPr lang="en-US" sz="1200" b="1" dirty="0">
              <a:solidFill>
                <a:srgbClr val="28B8A8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EgoPoseFormer v2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egocentric full-body motion</a:t>
            </a:r>
            <a:endParaRPr lang="en-US" sz="950" b="1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用时空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Transformer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从头戴视角估计完整人体运动。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EvaPose / Eva-3M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visibility-aware HPE</a:t>
            </a:r>
            <a:endParaRPr lang="en-US" sz="950" b="1" dirty="0">
              <a:solidFill>
                <a:srgbClr val="28B8A8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显式建模关键点可见性，处理第一人称人体遮挡。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EgoForce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· 3D hand pose</a:t>
            </a:r>
            <a:endParaRPr lang="en-US" sz="950" b="1" dirty="0">
              <a:solidFill>
                <a:srgbClr val="28B8A8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单目头戴相机恢复绝对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手部姿态与位置。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SHOW3D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hand-object 3D data</a:t>
            </a:r>
            <a:endParaRPr lang="en-US" sz="950" b="1" dirty="0">
              <a:solidFill>
                <a:srgbClr val="28B8A8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真实世界手-物交互的大规模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标注数据集。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B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从“周围有什么”推进到“我正在做什么”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方向三：意图与多模态交互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Gaze、Gesture、Voice</a:t>
            </a: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融合：让系统知道“这个”到底指什么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28B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用视线/手势/语音解析指代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把模糊自然语言落到真实对象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设计更自然、低负担的交互方式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8B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from input to intent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EgoPointVQA / HINT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gesture-grounded VQA</a:t>
            </a:r>
            <a:endParaRPr lang="en-US" sz="950" b="1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手部关键点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token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帮助模型理解指向意图。</a:t>
            </a:r>
            <a:endParaRPr lang="en-US" sz="1050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Gazeify Then Voiceify</a:t>
            </a:r>
            <a:endParaRPr lang="en-US" sz="1350" dirty="0"/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IUI 2026 </a:t>
            </a: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· gaze + voice referencing</a:t>
            </a:r>
            <a:endParaRPr lang="en-US" sz="95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displayless smart glasses 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上用 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gaze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+voice 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选择物理对象。</a:t>
            </a:r>
            <a:endParaRPr lang="en-US" sz="1050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4160520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SurfaceXR</a:t>
            </a:r>
            <a:endParaRPr lang="en-US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2026 </a:t>
            </a: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· surface interaction</a:t>
            </a:r>
            <a:endParaRPr lang="en-US" sz="95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融合手部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tracking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与智能手表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IMU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，实现桌面交互。</a:t>
            </a:r>
            <a:endParaRPr lang="en-US" sz="1050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7882128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SpeechLess</a:t>
            </a:r>
            <a:endParaRPr lang="en-US" sz="1350" dirty="0"/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</a:t>
            </a: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· spatial memory</a:t>
            </a:r>
            <a:r>
              <a:rPr lang="en-US" sz="950" dirty="0">
                <a:solidFill>
                  <a:srgbClr val="28B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r>
              <a:rPr lang="en-US" sz="950" b="1" dirty="0">
                <a:solidFill>
                  <a:srgbClr val="28B8A8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aware AR</a:t>
            </a:r>
            <a:endParaRPr lang="en-US" sz="950" dirty="0"/>
          </a:p>
        </p:txBody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用空间记忆降低可穿戴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中重复语音表达成本。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B8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交互目标：不靠鼠标键盘，而靠身体信号表达意图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方向四：</a:t>
            </a:r>
            <a:r>
              <a:rPr lang="en-US" sz="280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4D</a:t>
            </a: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统一重建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把“用户”和“环境”放进同一个随时间变化的表示中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7873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同时恢复人、手、视线、深度与相机轨迹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</a:t>
            </a:r>
            <a:r>
              <a:rPr lang="en-US" sz="145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空间扩展到</a:t>
            </a:r>
            <a:r>
              <a:rPr lang="en-US" sz="1450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 + time</a:t>
            </a:r>
            <a:endParaRPr lang="en-US" sz="14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减少多模块流水线误差累积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120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viewer + view in 4D</a:t>
            </a:r>
            <a:endParaRPr lang="en-US" sz="1200" b="1" dirty="0">
              <a:solidFill>
                <a:srgbClr val="2F80ED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ReV</a:t>
            </a: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iV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ECCV 2026 · holistic egocentric 4D</a:t>
            </a:r>
            <a:endParaRPr lang="en-US" sz="950" b="1" dirty="0">
              <a:solidFill>
                <a:srgbClr val="2F80ED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从单目第一人称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RGB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视频联合恢复 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viewer 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view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50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Seeing without Pixels</a:t>
            </a:r>
            <a:endParaRPr lang="en-US" sz="1350" dirty="0"/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camera trajectory</a:t>
            </a:r>
            <a:endParaRPr lang="en-US" sz="950" b="1" dirty="0">
              <a:solidFill>
                <a:srgbClr val="2F80ED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只看相机轨迹也能捕捉视频语义与动作线索。</a:t>
            </a:r>
            <a:endParaRPr lang="en-US" sz="1050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4160520" y="3420237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AViON4D</a:t>
            </a:r>
            <a:endParaRPr lang="en-US" sz="1350" dirty="0"/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CVPRW 2026 · audio-visual 4D</a:t>
            </a:r>
            <a:endParaRPr lang="en-US" sz="950" b="1" dirty="0">
              <a:solidFill>
                <a:srgbClr val="2F80ED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 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egocentric video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特征组织成开放词汇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4D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场景表示。</a:t>
            </a:r>
            <a:endParaRPr lang="en-US" sz="1050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7882128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EgoTrack3D</a:t>
            </a:r>
            <a:endParaRPr lang="en-US" sz="1350" dirty="0"/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</a:t>
            </a:r>
            <a:r>
              <a:rPr lang="en-US" sz="950" b="1" dirty="0">
                <a:solidFill>
                  <a:srgbClr val="2F80ED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2026 · 3D object tracking</a:t>
            </a:r>
            <a:endParaRPr lang="en-US" sz="950" b="1" dirty="0">
              <a:solidFill>
                <a:srgbClr val="2F80ED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从第一人称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RGB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视频维护动态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物体轨迹。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趋势：多个任务不再分开做，而是联合成时空状态估计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方向五：预测与世界模型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从“理解当前场景”推进到“模拟接下来会发生什么”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预测未来动作/轨迹/交互结果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模拟手-物-场景动态变化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为主动辅助和风险预警提供依据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118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current state → future state</a:t>
            </a:r>
            <a:endParaRPr lang="en-US" sz="118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Dexterous World Models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scene-action video diffusion</a:t>
            </a:r>
            <a:endParaRPr lang="en-US" sz="1050" b="1" dirty="0">
              <a:solidFill>
                <a:srgbClr val="7B61FF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给定静态3D场景与第一人称手部动作，生成交互后的未来视频。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Prototypical Action Reasoning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· action anticipation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用视觉-语言对齐改进第一人称未来动作预测。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Seeing without Pixels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CVPR 2026 </a:t>
            </a:r>
            <a:r>
              <a:rPr lang="en-US" sz="950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motion </a:t>
            </a: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as intent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相机轨迹可作为预测动作和场景变化的强信号。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Video Spatial Reasoning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AAAI 2026 </a:t>
            </a:r>
            <a:r>
              <a:rPr lang="en-US" sz="950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10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3D rollout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</a:t>
            </a:r>
            <a:r>
              <a:rPr lang="en-US" sz="12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 object-centric 3D rollout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增强视频空间推理。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</a:t>
            </a:r>
            <a:r>
              <a:rPr lang="en-US" sz="160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reactive perception </a:t>
            </a:r>
            <a:r>
              <a:rPr lang="en-US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走向 </a:t>
            </a:r>
            <a:r>
              <a:rPr lang="en-US" sz="160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predictive intelligence</a:t>
            </a:r>
            <a:endParaRPr lang="en-US" sz="1600" b="1" dirty="0">
              <a:solidFill>
                <a:srgbClr val="7B61FF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</a:t>
            </a:r>
            <a:r>
              <a:rPr lang="zh-CN" alt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</a:t>
            </a: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：可穿戴助手与 </a:t>
            </a:r>
            <a:r>
              <a:rPr lang="en-US" sz="280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Agent</a:t>
            </a:r>
            <a:endParaRPr lang="en-US" sz="280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从“看见并回答”走向“基于眼前世界执行任务”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连接第一人称感知与工具执行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把现实世界对象转化为任务上下文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探索主动、免手持、场景内协助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118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physical perception → digital action</a:t>
            </a:r>
            <a:endParaRPr lang="en-US" sz="118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VisionClaw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· always-on smart-glasses agent</a:t>
            </a:r>
            <a:endParaRPr lang="en-US" sz="950" b="1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 Meta Ray-Ban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眼镜实时感知与通用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AI agent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执行。</a:t>
            </a:r>
            <a:endParaRPr lang="en-US" sz="1050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Egocentric Co-Pilot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</a:t>
            </a:r>
            <a:r>
              <a:rPr lang="en-US" sz="950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web-native smart</a:t>
            </a:r>
            <a:r>
              <a:rPr lang="en-US" sz="950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glasses agent</a:t>
            </a:r>
            <a:endParaRPr lang="en-US" sz="95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LLM 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perception、reasoning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与 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web tools。</a:t>
            </a:r>
            <a:endParaRPr lang="en-US" sz="1050" dirty="0">
              <a:solidFill>
                <a:srgbClr val="536176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4160520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Memento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2026 </a:t>
            </a:r>
            <a:r>
              <a:rPr lang="en-US" sz="950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proactive AR assistant</a:t>
            </a:r>
            <a:endParaRPr lang="en-US" sz="95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基于个人记忆的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 proactive visualization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和提醒。</a:t>
            </a:r>
            <a:endParaRPr lang="en-US" sz="1050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7882128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Exploring LLM Assistants</a:t>
            </a:r>
            <a:endParaRPr lang="en-US" sz="135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ACM</a:t>
            </a:r>
            <a:r>
              <a:rPr lang="en-US" sz="95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/IEEE Symposium on Edge Computing，SEC 2025</a:t>
            </a:r>
            <a:endParaRPr lang="en-US" sz="950" b="1" dirty="0">
              <a:solidFill>
                <a:srgbClr val="7B61FF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</a:t>
            </a:r>
            <a:r>
              <a:rPr lang="en-US" sz="10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LLM+</a:t>
            </a: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眼镜在辅助场景中的交互范式。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1FF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Agent</a:t>
            </a:r>
            <a:r>
              <a:rPr lang="en-US" sz="130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的新入口：不是屏幕，而是用户正在看的现实世界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</a:t>
            </a:r>
            <a:r>
              <a:rPr lang="zh-CN" alt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</a:t>
            </a: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</a:t>
            </a:r>
            <a:r>
              <a:rPr lang="en-US" sz="280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Always-on </a:t>
            </a: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系统与隐私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真正戴在脸上的 AI，必须低功耗、低延迟、可控、可信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536176"/>
          </a:solidFill>
          <a:ln w="12700">
            <a:solidFill>
              <a:srgbClr val="5361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2471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这个方向做什么？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514600" cy="0"/>
          </a:xfrm>
          <a:prstGeom prst="line">
            <a:avLst/>
          </a:prstGeom>
          <a:noFill/>
          <a:ln w="27940">
            <a:solidFill>
              <a:srgbClr val="5361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450592"/>
            <a:ext cx="128016" cy="128016"/>
          </a:xfrm>
          <a:prstGeom prst="ellipse">
            <a:avLst/>
          </a:prstGeom>
          <a:solidFill>
            <a:srgbClr val="536176"/>
          </a:solidFill>
          <a:ln w="12700">
            <a:solidFill>
              <a:srgbClr val="5361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1401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减少持续感知的存储和能耗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536176"/>
          </a:solidFill>
          <a:ln w="12700">
            <a:solidFill>
              <a:srgbClr val="5361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在设备端运行轻量模型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0392" y="3456432"/>
            <a:ext cx="128016" cy="128016"/>
          </a:xfrm>
          <a:prstGeom prst="ellipse">
            <a:avLst/>
          </a:prstGeom>
          <a:solidFill>
            <a:srgbClr val="536176"/>
          </a:solidFill>
          <a:ln w="12700">
            <a:solidFill>
              <a:srgbClr val="5361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419856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为视觉数据提供细粒度权限控制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498348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5F9FD"/>
          </a:solidFill>
          <a:ln w="12700">
            <a:solidFill>
              <a:srgbClr val="D8E2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111496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</a:t>
            </a:r>
            <a:r>
              <a:rPr lang="en-US" sz="1180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intelligence under constraints</a:t>
            </a:r>
            <a:endParaRPr lang="en-US" sz="1180" dirty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 / 系统</a:t>
            </a:r>
            <a:endParaRPr lang="en-US" sz="135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4160520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4325112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EPIC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4325112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· efficient egocentric perception</a:t>
            </a:r>
            <a:endParaRPr lang="en-US" sz="1000" dirty="0">
              <a:solidFill>
                <a:srgbClr val="53617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4325112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gaze/pose/IMU 保留最有信息量的感知输入。</a:t>
            </a:r>
            <a:endParaRPr lang="en-US" sz="1050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7882128" y="1847088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8046720" y="20025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OpenGlass</a:t>
            </a:r>
            <a:endParaRPr lang="en-US" sz="1350" dirty="0"/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8046720" y="23042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</a:t>
            </a:r>
            <a:r>
              <a:rPr lang="en-US" sz="9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on</a:t>
            </a:r>
            <a:r>
              <a:rPr lang="en-US" sz="9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device event</a:t>
            </a:r>
            <a:r>
              <a:rPr lang="en-US" sz="9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based glasses</a:t>
            </a:r>
            <a:endParaRPr lang="en-US" sz="95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8046720" y="2578608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开源低功耗事件相机智能眼镜平台。</a:t>
            </a:r>
            <a:endParaRPr lang="en-US" sz="1050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4160520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4325112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VisGuardian</a:t>
            </a:r>
            <a:endParaRPr lang="en-US" sz="1350" b="1" dirty="0">
              <a:solidFill>
                <a:srgbClr val="081A3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4325112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CHI 2026 </a:t>
            </a:r>
            <a:r>
              <a:rPr lang="en-US" sz="9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visual privacy control</a:t>
            </a:r>
            <a:endParaRPr lang="en-US" sz="95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4325112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基于对象类别/空间邻近的细粒度视觉权限控制。</a:t>
            </a:r>
            <a:endParaRPr lang="en-US" sz="1050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7882128" y="3456432"/>
            <a:ext cx="3337560" cy="1298448"/>
          </a:xfrm>
          <a:prstGeom prst="roundRect">
            <a:avLst>
              <a:gd name="adj" fmla="val 5634"/>
            </a:avLst>
          </a:prstGeom>
          <a:solidFill>
            <a:srgbClr val="F9FC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8046720" y="36118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1A3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TinyDEVO</a:t>
            </a:r>
            <a:endParaRPr lang="en-US" sz="1350" dirty="0"/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8046720" y="3913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arXiv 2026 </a:t>
            </a:r>
            <a:r>
              <a:rPr lang="en-US" sz="9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</a:t>
            </a: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event</a:t>
            </a:r>
            <a:r>
              <a:rPr lang="en-US" sz="9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r>
              <a:rPr lang="en-US" sz="100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based visual odometry</a:t>
            </a:r>
            <a:endParaRPr lang="en-US" sz="950" dirty="0"/>
          </a:p>
        </p:txBody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8046720" y="418795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面向超低功耗设备的深度事件视觉里程计。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现实约束不是附录，而是 </a:t>
            </a:r>
            <a:r>
              <a:rPr lang="en-US" sz="1300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wearable AI</a:t>
            </a:r>
            <a:r>
              <a:rPr lang="en-US" sz="1300" b="1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的核心问题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47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调研结论：研究主线正在收敛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近一年工作可以理解为同一个</a:t>
            </a:r>
            <a:r>
              <a:rPr lang="en-US" sz="1150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 wearable intelligence stack </a:t>
            </a:r>
            <a:r>
              <a:rPr lang="en-US" sz="1150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的不同层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32688" y="1371600"/>
            <a:ext cx="10241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1115568" y="1517904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115568" y="1572768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627632" y="155448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空间化</a:t>
            </a:r>
            <a:endParaRPr lang="en-US" sz="14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2788920" y="156362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</a:t>
            </a:r>
            <a:r>
              <a:rPr lang="en-US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2D</a:t>
            </a: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图像识别，走向 </a:t>
            </a:r>
            <a:r>
              <a:rPr lang="en-US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metric 3D / 4D world state</a:t>
            </a:r>
            <a:endParaRPr lang="en-US" b="1" dirty="0">
              <a:solidFill>
                <a:srgbClr val="53617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32688" y="2212848"/>
            <a:ext cx="10241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1115568" y="2359152"/>
            <a:ext cx="347472" cy="347472"/>
          </a:xfrm>
          <a:prstGeom prst="ellipse">
            <a:avLst/>
          </a:prstGeom>
          <a:solidFill>
            <a:srgbClr val="28B8A8"/>
          </a:solidFill>
          <a:ln w="12700">
            <a:solidFill>
              <a:srgbClr val="28B8A8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115568" y="2414016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1627632" y="23957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以人为中心</a:t>
            </a:r>
            <a:endParaRPr lang="en-US" sz="145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788920" y="240487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从理解场景，走向理解 </a:t>
            </a:r>
            <a:r>
              <a:rPr lang="en-US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wearer</a:t>
            </a: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的手、身体、视线、意图</a:t>
            </a:r>
            <a:endParaRPr lang="en-US" dirty="0">
              <a:solidFill>
                <a:srgbClr val="536176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2688" y="3054096"/>
            <a:ext cx="10241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1115568" y="3200400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1115568" y="3255264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1627632" y="323697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长期化</a:t>
            </a:r>
            <a:endParaRPr lang="en-US" sz="145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2788920" y="32461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从单次问答，走向 </a:t>
            </a:r>
            <a:r>
              <a:rPr lang="en-US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life stream、memory </a:t>
            </a: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</a:t>
            </a:r>
            <a:r>
              <a:rPr lang="en-US" b="1" dirty="0">
                <a:solidFill>
                  <a:srgbClr val="536176"/>
                </a:solidFill>
                <a:latin typeface="阿里巴巴普惠体" panose="00020600040101010101" charset="-122"/>
                <a:ea typeface="阿里巴巴普惠体" panose="00020600040101010101" charset="-122"/>
                <a:cs typeface="Noto Sans CJK SC" pitchFamily="34" charset="-120"/>
              </a:rPr>
              <a:t>personalization</a:t>
            </a:r>
            <a:endParaRPr lang="en-US" b="1" dirty="0">
              <a:solidFill>
                <a:srgbClr val="536176"/>
              </a:solidFill>
              <a:latin typeface="阿里巴巴普惠体" panose="00020600040101010101" charset="-122"/>
              <a:ea typeface="阿里巴巴普惠体" panose="00020600040101010101" charset="-122"/>
              <a:cs typeface="Noto Sans CJK SC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2688" y="3895344"/>
            <a:ext cx="10241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1115568" y="4041648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1115568" y="409651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627632" y="407822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行动化</a:t>
            </a:r>
            <a:endParaRPr lang="en-US" sz="145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2788920" y="408736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从回答问题，走向连接现实感知与工具/任务执行</a:t>
            </a:r>
            <a:endParaRPr lang="en-US" dirty="0">
              <a:solidFill>
                <a:srgbClr val="536176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2688" y="4736592"/>
            <a:ext cx="10241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D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2DCE8">
                <a:alpha val="35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17"/>
            </p:custDataLst>
          </p:nvPr>
        </p:nvSpPr>
        <p:spPr>
          <a:xfrm>
            <a:off x="1115568" y="4882896"/>
            <a:ext cx="347472" cy="347472"/>
          </a:xfrm>
          <a:prstGeom prst="ellipse">
            <a:avLst/>
          </a:prstGeom>
          <a:solidFill>
            <a:srgbClr val="536176"/>
          </a:solidFill>
          <a:ln w="12700">
            <a:solidFill>
              <a:srgbClr val="536176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1115568" y="4937760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>
            <p:custDataLst>
              <p:tags r:id="rId19"/>
            </p:custDataLst>
          </p:nvPr>
        </p:nvSpPr>
        <p:spPr>
          <a:xfrm>
            <a:off x="1627632" y="491947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A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系统化</a:t>
            </a:r>
            <a:endParaRPr lang="en-US" sz="1450" dirty="0"/>
          </a:p>
        </p:txBody>
      </p:sp>
      <p:sp>
        <p:nvSpPr>
          <p:cNvPr id="28" name="Text 26"/>
          <p:cNvSpPr/>
          <p:nvPr>
            <p:custDataLst>
              <p:tags r:id="rId20"/>
            </p:custDataLst>
          </p:nvPr>
        </p:nvSpPr>
        <p:spPr>
          <a:xfrm>
            <a:off x="2788920" y="4928616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361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从模型性能，走向低功耗、低延迟、隐私可控的完整系统</a:t>
            </a:r>
            <a:endParaRPr lang="en-US" dirty="0">
              <a:solidFill>
                <a:srgbClr val="536176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4360" y="5989320"/>
            <a:ext cx="11018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2ED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DDE7F2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6126480"/>
            <a:ext cx="10561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最终问题：如何让 AI 持续理解“我、世界，以及二者之间正在发生的关系”？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375136" y="6510528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2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3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4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5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6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7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8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9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0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1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2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3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4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5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6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7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8.xml><?xml version="1.0" encoding="utf-8"?>
<p:tagLst xmlns:p="http://schemas.openxmlformats.org/presentationml/2006/main">
  <p:tag name="KSO_WM_DIAGRAM_VIRTUALLY_FRAME" val="{&quot;height&quot;:280.8,&quot;left&quot;:57.6,&quot;top&quot;:118.8,&quot;width&quot;:846}"/>
</p:tagLst>
</file>

<file path=ppt/tags/tag1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2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3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3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3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3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3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7.99}"/>
</p:tagLst>
</file>

<file path=ppt/tags/tag3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3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3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3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3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4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5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6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7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89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0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1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2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3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4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5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6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7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8.xml><?xml version="1.0" encoding="utf-8"?>
<p:tagLst xmlns:p="http://schemas.openxmlformats.org/presentationml/2006/main">
  <p:tag name="KSO_WM_DIAGRAM_VIRTUALLY_FRAME" val="{&quot;height&quot;:228.95999999999998,&quot;left&quot;:327.6,&quot;top&quot;:145.44,&quot;width&quot;:555.8399999999999}"/>
</p:tagLst>
</file>

<file path=ppt/tags/tag99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0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1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2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3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4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5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6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7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8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09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0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1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2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3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4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5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6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7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ags/tag118.xml><?xml version="1.0" encoding="utf-8"?>
<p:tagLst xmlns:p="http://schemas.openxmlformats.org/presentationml/2006/main">
  <p:tag name="KSO_WM_DIAGRAM_VIRTUALLY_FRAME" val="{&quot;height&quot;:292.32,&quot;left&quot;:87.84,&quot;top&quot;:119.52000000000001,&quot;width&quot;:765.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4390</Words>
  <Application>WPS 演示</Application>
  <PresentationFormat>On-screen Show (16:9)</PresentationFormat>
  <Paragraphs>555</Paragraphs>
  <Slides>20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Aptos Display</vt:lpstr>
      <vt:lpstr>Segoe UI Variable Display</vt:lpstr>
      <vt:lpstr>Aptos Display</vt:lpstr>
      <vt:lpstr>Aptos Display</vt:lpstr>
      <vt:lpstr>Aptos</vt:lpstr>
      <vt:lpstr>Segoe UI</vt:lpstr>
      <vt:lpstr>微软雅黑</vt:lpstr>
      <vt:lpstr>Arial Unicode MS</vt:lpstr>
      <vt:lpstr>阿里巴巴普惠体</vt:lpstr>
      <vt:lpstr>Noto Sans CJK SC</vt:lpstr>
      <vt:lpstr>魂心</vt:lpstr>
      <vt:lpstr>Noto Sans CJK SC</vt:lpstr>
      <vt:lpstr>Noto Sans CJK SC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AR/XR Glasses Survey</dc:title>
  <dc:creator>OpenAI</dc:creator>
  <dc:subject>AR/XR glasses survey</dc:subject>
  <cp:lastModifiedBy>蓝莓雨</cp:lastModifiedBy>
  <cp:revision>3</cp:revision>
  <dcterms:created xsi:type="dcterms:W3CDTF">2026-08-12T15:34:00Z</dcterms:created>
  <dcterms:modified xsi:type="dcterms:W3CDTF">2026-08-13T13:02:49Z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7FBDB5B8A3F84355B89C33F156D17308_13</vt:lpwstr>
  </property>
</Properties>
</file>