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提示词注入攻击：从攻击面演化到 Role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2402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2DCEC"/>
                </a:solidFill>
                <a:latin typeface="Microsoft YaHei"/>
              </a:rPr>
              <a:t>组会调研汇报｜以 ICML 2026《Prompt Injection as Role Confusion》为主论文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063240"/>
            <a:ext cx="1920240" cy="73152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4290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2F6"/>
                </a:solidFill>
                <a:latin typeface="Microsoft YaHei"/>
              </a:rPr>
              <a:t>主线：什么是 Prompt Injection → 为什么长期难解 → 2022–2026 演化 → 当前细分赛道 → Role Confusion 机制与实验 → 研究空白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6080760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AC0"/>
                </a:solidFill>
                <a:latin typeface="Microsoft YaHei"/>
              </a:rPr>
              <a:t>Charles Ye · Jasmine Cui · Dylan Hadfield-Menell · ICML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今天不是“讲一个攻击技巧”，而是回答三个层次的问题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25CA1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73B"/>
                </a:solidFill>
                <a:latin typeface="Microsoft YaHei"/>
              </a:rPr>
              <a:t>问题是什么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27632"/>
            <a:ext cx="7498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C34"/>
                </a:solidFill>
                <a:latin typeface="Microsoft YaHei"/>
              </a:rPr>
              <a:t>Prompt Injection 与 jailbreak / poisoning 有何区别？为什么 agent 时代风险陡增？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4837F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44952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73B"/>
                </a:solidFill>
                <a:latin typeface="Microsoft YaHei"/>
              </a:rPr>
              <a:t>领域走到哪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44952"/>
            <a:ext cx="7498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C34"/>
                </a:solidFill>
                <a:latin typeface="Microsoft YaHei"/>
              </a:rPr>
              <a:t>从 direct injection 到 RAG、memory、tool、multi-agent、provenance/forensics；哪些已经拥挤？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68433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462272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73B"/>
                </a:solidFill>
                <a:latin typeface="Microsoft YaHei"/>
              </a:rPr>
              <a:t>机制怎么解释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462272"/>
            <a:ext cx="749807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2C34"/>
                </a:solidFill>
                <a:latin typeface="Microsoft YaHei"/>
              </a:rPr>
              <a:t>Role Confusion：模型为什么会把“低权限文本”当成“高权限角色”，以及论文如何证明。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什么是 Prompt Injection？先给一个严格、可操作的定义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04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273B"/>
                </a:solidFill>
                <a:latin typeface="Microsoft YaHei"/>
              </a:rPr>
              <a:t>Prompt Injection = 攻击者把“本应作为数据解释的文本”变成模型实际遵循的控制信号，从而让模型偏离原本的指令、权限或任务。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68433"/>
                </a:solidFill>
                <a:latin typeface="Microsoft YaHei"/>
              </a:rPr>
              <a:t>核心不是某个关键词，而是“谁有资格控制模型”这条边界被打穿。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60520"/>
            <a:ext cx="254203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70832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25CA1"/>
                </a:solidFill>
                <a:latin typeface="Microsoft YaHei"/>
              </a:rPr>
              <a:t>可信指令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18304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System / User 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4160520"/>
            <a:ext cx="254203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4370832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4837F"/>
                </a:solidFill>
                <a:latin typeface="Microsoft YaHei"/>
              </a:rPr>
              <a:t>不可信数据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4718304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网页、邮件、PDF、Tool output、Memory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4160520"/>
            <a:ext cx="254203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4370832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4A4A"/>
                </a:solidFill>
                <a:latin typeface="Microsoft YaHei"/>
              </a:rPr>
              <a:t>错误解释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4718304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把数据当命令 / 把低权限当高权限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4160520"/>
            <a:ext cx="254203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4370832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68433"/>
                </a:solidFill>
                <a:latin typeface="Microsoft YaHei"/>
              </a:rPr>
              <a:t>后果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4718304"/>
            <a:ext cx="22677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输出劫持、数据泄露、未授权工具动作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来源：OWASP LLM01:2025 Prompt Injection；Wang et al., SoK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Prompt Injection、Jailbreak、Data Poisoning：三个词经常混在一起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356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01368"/>
            <a:ext cx="196596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37943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78308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6B78"/>
                </a:solidFill>
                <a:latin typeface="Microsoft YaHei"/>
              </a:rPr>
              <a:t>推理/执行时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2C34"/>
                </a:solidFill>
                <a:latin typeface="Microsoft YaHei"/>
              </a:rPr>
              <a:t>让当前上下文中的低权限文本获得控制力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73736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“网页里藏命令 → Agent 执行”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108356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218688"/>
            <a:ext cx="196596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55264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Jailbreak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0040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6B78"/>
                </a:solidFill>
                <a:latin typeface="Microsoft YaHei"/>
              </a:rPr>
              <a:t>推理时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54679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2C34"/>
                </a:solidFill>
                <a:latin typeface="Microsoft YaHei"/>
              </a:rPr>
              <a:t>突破安全拒答/内容政策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154679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“诱导模型回答本来会拒绝的问题”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108356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636007"/>
            <a:ext cx="196596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72583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Data / Model Poisoning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61772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06B78"/>
                </a:solidFill>
                <a:latin typeface="Microsoft YaHei"/>
              </a:rPr>
              <a:t>训练/知识库/记忆阶段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57200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62C34"/>
                </a:solidFill>
                <a:latin typeface="Microsoft YaHei"/>
              </a:rPr>
              <a:t>污染后续行为或知识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57200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“往RAG库、Memory、训练数据里植入恶意样本”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73B"/>
                </a:solidFill>
                <a:latin typeface="Microsoft YaHei"/>
              </a:rPr>
              <a:t>本文重点：Prompt Injection；其中“chat jailbreak”只有在它通过角色/上下文越权时才与本文重合。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为什么它难：LLM 的“程序”和“数据”都写成自然语言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2461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476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25CA1"/>
                </a:solidFill>
                <a:latin typeface="Microsoft YaHei"/>
              </a:rPr>
              <a:t>传统程序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9572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2C34"/>
                </a:solidFill>
                <a:latin typeface="Microsoft YaHei"/>
              </a:rPr>
              <a:t>SQL / Shell 有明确语法边界；数据不能自然变成代码。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2461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476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8433"/>
                </a:solidFill>
                <a:latin typeface="Microsoft YaHei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39572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2C34"/>
                </a:solidFill>
                <a:latin typeface="Microsoft YaHei"/>
              </a:rPr>
              <a:t>System、User、Tool、网页内容最终都进入 token stream。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737360"/>
            <a:ext cx="32461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9476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4A4A"/>
                </a:solidFill>
                <a:latin typeface="Microsoft YaHe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9572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62C34"/>
                </a:solidFill>
                <a:latin typeface="Microsoft YaHei"/>
              </a:rPr>
              <a:t>模型不仅生成文本，还能调用工具、读取秘密、改写外部状态。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9080" y="2487168"/>
            <a:ext cx="365760" cy="0"/>
          </a:xfrm>
          <a:prstGeom prst="line">
            <a:avLst/>
          </a:prstGeom>
          <a:ln w="2540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72400" y="2487168"/>
            <a:ext cx="365760" cy="0"/>
          </a:xfrm>
          <a:prstGeom prst="line">
            <a:avLst/>
          </a:prstGeom>
          <a:ln w="2540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069080"/>
            <a:ext cx="10287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A273B"/>
                </a:solidFill>
                <a:latin typeface="Microsoft YaHei"/>
              </a:rPr>
              <a:t>因此真正的安全问题不是“模型会不会看懂恶意句子”，而是：模型能否稳定维护 Source / Role / Authority / Action 的边界。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Role Confusion 论文强调：模型看到的是“单一连续 token 流”，role tag 是人为加的结构。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第一条分界：Direct vs. Indirect Prompt Injection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578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114300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83664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A273B"/>
                </a:solidFill>
                <a:latin typeface="Microsoft YaHei"/>
              </a:rPr>
              <a:t>攻击者直接控制输入框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例：要求模型忽略上级指令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目标：越过system policy或操纵当前回答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优势：最容易实验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局限：部署中越来越容易被专门检测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2578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1847088"/>
            <a:ext cx="123444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8366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Indirect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231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A273B"/>
                </a:solidFill>
                <a:latin typeface="Microsoft YaHei"/>
              </a:rPr>
              <a:t>攻击者控制“模型会读取的数据”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88036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载体：网页、邮件、PDF、RAG文档、日志、Tool output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用户甚至不知道攻击文本存在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Agent一旦有工具权限，攻击可升级为真实副作用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2023以后逐渐成为主战场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OWASP LLM01；Greshake et al., 2023 “Not what you’ve signed up for”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Agent 时代为什么更危险：错误输出 → 真实副作用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874519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331720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4837F"/>
                </a:solidFill>
                <a:latin typeface="Microsoft YaHei"/>
              </a:rPr>
              <a:t>恶意载体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761488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网页 / 邮件 / Tool metadata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2743200"/>
            <a:ext cx="365761" cy="0"/>
          </a:xfrm>
          <a:prstGeom prst="line">
            <a:avLst/>
          </a:prstGeom>
          <a:ln w="2540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16352" y="2103120"/>
            <a:ext cx="1874519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25CA1"/>
                </a:solidFill>
                <a:latin typeface="Microsoft YaHei"/>
              </a:rPr>
              <a:t>进入上下文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61488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Retriever / Browser / MCP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0872" y="2743200"/>
            <a:ext cx="365760" cy="0"/>
          </a:xfrm>
          <a:prstGeom prst="line">
            <a:avLst/>
          </a:prstGeom>
          <a:ln w="2540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3" y="2103120"/>
            <a:ext cx="1874519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331720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68433"/>
                </a:solidFill>
                <a:latin typeface="Microsoft YaHei"/>
              </a:rPr>
              <a:t>模型误判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761488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“这是一条该执行的指令”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4303" y="2743200"/>
            <a:ext cx="365760" cy="0"/>
          </a:xfrm>
          <a:prstGeom prst="line">
            <a:avLst/>
          </a:prstGeom>
          <a:ln w="2540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43216" y="2103120"/>
            <a:ext cx="1874519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331720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4A4A"/>
                </a:solidFill>
                <a:latin typeface="Microsoft YaHei"/>
              </a:rPr>
              <a:t>产生动作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761488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Tool call / shell / email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17736" y="2743200"/>
            <a:ext cx="365760" cy="0"/>
          </a:xfrm>
          <a:prstGeom prst="line">
            <a:avLst/>
          </a:prstGeom>
          <a:ln w="2540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56648" y="2103120"/>
            <a:ext cx="1874519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2331720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45DB5"/>
                </a:solidFill>
                <a:latin typeface="Microsoft YaHei"/>
              </a:rPr>
              <a:t>真实后果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2761488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泄密 / 删除 / 转账 / 持久化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A273B"/>
                </a:solidFill>
                <a:latin typeface="Microsoft YaHei"/>
              </a:rPr>
              <a:t>风险的“乘数效应”来自 Excessive Agency：同样一次Prompt Injection，在聊天模型里只是错答，在Agent里可能变成系统动作。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OWASP LLM06 Excessive Agency；USENIX/NDSS 2026 agent prompt-injection papers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发展脉络：Prompt Injection 从“提示词技巧”变成“系统安全问题”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3154680"/>
            <a:ext cx="10012680" cy="0"/>
          </a:xfrm>
          <a:prstGeom prst="line">
            <a:avLst/>
          </a:prstGeom>
          <a:ln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44168" y="2898648"/>
            <a:ext cx="512064" cy="512064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24028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64A4A"/>
                </a:solidFill>
                <a:latin typeface="Microsoft YaHei"/>
              </a:rPr>
              <a:t>Direct injection / PromptInject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输入框直接劫持；目标多是输出/系统提示。</a:t>
            </a:r>
          </a:p>
        </p:txBody>
      </p:sp>
      <p:sp>
        <p:nvSpPr>
          <p:cNvPr id="10" name="Oval 9"/>
          <p:cNvSpPr/>
          <p:nvPr/>
        </p:nvSpPr>
        <p:spPr>
          <a:xfrm>
            <a:off x="3630168" y="2898648"/>
            <a:ext cx="512064" cy="512064"/>
          </a:xfrm>
          <a:prstGeom prst="ellipse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24028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675887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68433"/>
                </a:solidFill>
                <a:latin typeface="Microsoft YaHei"/>
              </a:rPr>
              <a:t>Indirect 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416052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恶意网页/文档进入上下文；开始出现数据泄露与插件利用。</a:t>
            </a:r>
          </a:p>
        </p:txBody>
      </p:sp>
      <p:sp>
        <p:nvSpPr>
          <p:cNvPr id="14" name="Oval 13"/>
          <p:cNvSpPr/>
          <p:nvPr/>
        </p:nvSpPr>
        <p:spPr>
          <a:xfrm>
            <a:off x="5916168" y="2898648"/>
            <a:ext cx="512064" cy="512064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224028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675887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4837F"/>
                </a:solidFill>
                <a:latin typeface="Microsoft YaHei"/>
              </a:rPr>
              <a:t>RAG / Memory poisoning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16052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知识库与长期记忆成为攻击面；攻击具备持久性。</a:t>
            </a:r>
          </a:p>
        </p:txBody>
      </p:sp>
      <p:sp>
        <p:nvSpPr>
          <p:cNvPr id="18" name="Oval 17"/>
          <p:cNvSpPr/>
          <p:nvPr/>
        </p:nvSpPr>
        <p:spPr>
          <a:xfrm>
            <a:off x="8202168" y="2898648"/>
            <a:ext cx="512064" cy="512064"/>
          </a:xfrm>
          <a:prstGeom prst="ellipse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24028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3675887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5CA1"/>
                </a:solidFill>
                <a:latin typeface="Microsoft YaHei"/>
              </a:rPr>
              <a:t>Tool / agent / role hierarchy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16052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工具调用、Instruction hierarchy、权限边界成为中心。</a:t>
            </a:r>
          </a:p>
        </p:txBody>
      </p:sp>
      <p:sp>
        <p:nvSpPr>
          <p:cNvPr id="22" name="Oval 21"/>
          <p:cNvSpPr/>
          <p:nvPr/>
        </p:nvSpPr>
        <p:spPr>
          <a:xfrm>
            <a:off x="10488168" y="2898648"/>
            <a:ext cx="512064" cy="512064"/>
          </a:xfrm>
          <a:prstGeom prst="ellipse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3848" y="224028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3675887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45DB5"/>
                </a:solidFill>
                <a:latin typeface="Microsoft YaHei"/>
              </a:rPr>
              <a:t>Mechanism + propagation + forensics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16052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Role confusion、retrieval realism、MCP/tool stream、多Agent传播、溯源恢复。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时间线是按研究重心演化概括，不表示每一类只存在于该年份。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如今有哪些“攻击领域”？最清楚的分法：按恶意内容从哪里进入系统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647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4A4A"/>
                </a:solidFill>
                <a:latin typeface="Microsoft YaHei"/>
              </a:rPr>
              <a:t>① Chat / 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用户输入框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成熟、最拥挤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8568" y="2542032"/>
            <a:ext cx="73152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257860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2022→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647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8433"/>
                </a:solidFill>
                <a:latin typeface="Microsoft YaHei"/>
              </a:rPr>
              <a:t>② Web /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19456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网页、PDF、邮件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6060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成熟但仍活跃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542032"/>
            <a:ext cx="73152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57860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2023→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60020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7647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837F"/>
                </a:solidFill>
                <a:latin typeface="Microsoft YaHei"/>
              </a:rPr>
              <a:t>③ RAG /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19456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知识库、检索结果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6060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高活跃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91271" y="2542032"/>
            <a:ext cx="73152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57860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2023→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160020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76479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45DB5"/>
                </a:solidFill>
                <a:latin typeface="Microsoft YaHei"/>
              </a:rPr>
              <a:t>④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19456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长期记忆/跨轮状态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6060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快速增长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07624" y="2542032"/>
            <a:ext cx="731520" cy="347472"/>
          </a:xfrm>
          <a:prstGeom prst="roundRect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07624" y="257860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2024→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1188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776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25CA1"/>
                </a:solidFill>
                <a:latin typeface="Microsoft YaHei"/>
              </a:rPr>
              <a:t>⑤ Tool / 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0624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工具描述、参数、返回值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6177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2026最热之一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58568" y="4553712"/>
            <a:ext cx="731520" cy="347472"/>
          </a:xfrm>
          <a:prstGeom prst="roundRect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58568" y="459028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2024→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361188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1024" y="3776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59166"/>
                </a:solidFill>
                <a:latin typeface="Microsoft YaHei"/>
              </a:rPr>
              <a:t>⑥ Multi-Agent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1024" y="420624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Agent间消息/路由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1024" y="46177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新兴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4553712"/>
            <a:ext cx="731520" cy="347472"/>
          </a:xfrm>
          <a:prstGeom prst="roundRect">
            <a:avLst/>
          </a:prstGeom>
          <a:solidFill>
            <a:srgbClr val="45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59028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2025→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1072" y="361188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3776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45DB5"/>
                </a:solidFill>
                <a:latin typeface="Microsoft YaHei"/>
              </a:rPr>
              <a:t>⑦ Multimodal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20624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图像、GUI、音频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46177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新兴且成本高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91271" y="4553712"/>
            <a:ext cx="731520" cy="347472"/>
          </a:xfrm>
          <a:prstGeom prst="roundRect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91271" y="459028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2025→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07424" y="3611880"/>
            <a:ext cx="251460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53728" y="377647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8433"/>
                </a:solidFill>
                <a:latin typeface="Microsoft YaHei"/>
              </a:rPr>
              <a:t>⑧ Passive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4206240"/>
            <a:ext cx="22402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2C34"/>
                </a:solidFill>
                <a:latin typeface="Microsoft YaHei"/>
              </a:rPr>
              <a:t>日志、遥测、业务字段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46177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2026增长快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07624" y="4553712"/>
            <a:ext cx="73152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07624" y="4590288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2026→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8338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273B"/>
                </a:solidFill>
                <a:latin typeface="Microsoft YaHei"/>
              </a:rPr>
              <a:t>同一个攻击可以跨多个入口：例如“恶意网页 → RAG检索 → Agent消息 → Tool call”。所以这是攻击面，不是互斥分类。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参考：Wang et al., “The Landscape of Prompt Injection Threats in LLM Agents”, 2026；Layered Agent Security Survey,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另一种分法：当前论文到底在解决“攻击链”的哪一段？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4837F"/>
                </a:solidFill>
                <a:latin typeface="Microsoft YaHei"/>
              </a:rPr>
              <a:t>Reachability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怎么让恶意内容被检索/看到？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770632"/>
            <a:ext cx="210312" cy="0"/>
          </a:xfrm>
          <a:prstGeom prst="line">
            <a:avLst/>
          </a:prstGeom>
          <a:ln w="1651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2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4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68433"/>
                </a:solidFill>
                <a:latin typeface="Microsoft YaHei"/>
              </a:rPr>
              <a:t>Privilege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为什么低权限文本能获得控制力？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02152" y="2770632"/>
            <a:ext cx="210312" cy="0"/>
          </a:xfrm>
          <a:prstGeom prst="line">
            <a:avLst/>
          </a:prstGeom>
          <a:ln w="1651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58184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45DB5"/>
                </a:solidFill>
                <a:latin typeface="Microsoft YaHei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6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怎么跨轮/跨会话保留？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75504" y="2770632"/>
            <a:ext cx="210312" cy="0"/>
          </a:xfrm>
          <a:prstGeom prst="line">
            <a:avLst/>
          </a:prstGeom>
          <a:ln w="1651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31536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5CA1"/>
                </a:solidFill>
                <a:latin typeface="Microsoft YaHei"/>
              </a:rPr>
              <a:t>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怎么跨工具/Agent传播？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48856" y="2770632"/>
            <a:ext cx="210312" cy="0"/>
          </a:xfrm>
          <a:prstGeom prst="line">
            <a:avLst/>
          </a:prstGeom>
          <a:ln w="1651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04888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64A4A"/>
                </a:solidFill>
                <a:latin typeface="Microsoft YaHei"/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怎么诱导真实工具动作？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22208" y="2770632"/>
            <a:ext cx="210312" cy="0"/>
          </a:xfrm>
          <a:prstGeom prst="line">
            <a:avLst/>
          </a:prstGeom>
          <a:ln w="1651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78240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1392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59166"/>
                </a:solidFill>
                <a:latin typeface="Microsoft YaHei"/>
              </a:rPr>
              <a:t>Attribution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出事后定位哪段内容/哪一步？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95560" y="2770632"/>
            <a:ext cx="210312" cy="0"/>
          </a:xfrm>
          <a:prstGeom prst="line">
            <a:avLst/>
          </a:prstGeom>
          <a:ln w="1651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451592" y="2011680"/>
            <a:ext cx="141732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24744" y="2240280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273B"/>
                </a:solidFill>
                <a:latin typeface="Microsoft YaHei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4744" y="2697480"/>
            <a:ext cx="127101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06B78"/>
                </a:solidFill>
                <a:latin typeface="Microsoft YaHei"/>
              </a:rPr>
              <a:t>如何清理污染状态并恢复？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273B"/>
                </a:solidFill>
                <a:latin typeface="Microsoft YaHei"/>
              </a:rPr>
              <a:t>2022–2024 更多工作集中在“payload/绕过”；2025–2026 明显向 reachability、tool execution、memory、propagation、mechanism、forensics 移动。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2026研究状态与“拥挤度”：不是简单看论文数，而是看问题是否已被标准化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拥挤度定义：已有benchmark/强baseline/多篇同质攻击/成熟评测越多，越拥挤。此处为定性判断，不是精确计量。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Direct jailbreak / user injection</a:t>
            </a:r>
          </a:p>
        </p:txBody>
      </p:sp>
      <p:sp>
        <p:nvSpPr>
          <p:cNvPr id="7" name="Oval 6"/>
          <p:cNvSpPr/>
          <p:nvPr/>
        </p:nvSpPr>
        <p:spPr>
          <a:xfrm>
            <a:off x="3703320" y="1801368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14215" y="1801368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25112" y="1801368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36008" y="1801368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46904" y="1801368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764792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成熟、继续做“新prompt技巧”很难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Generic indirect web/doc</a:t>
            </a:r>
          </a:p>
        </p:txBody>
      </p:sp>
      <p:sp>
        <p:nvSpPr>
          <p:cNvPr id="14" name="Oval 13"/>
          <p:cNvSpPr/>
          <p:nvPr/>
        </p:nvSpPr>
        <p:spPr>
          <a:xfrm>
            <a:off x="3703320" y="2331720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14215" y="2331720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2331720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36008" y="2331720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46904" y="2331720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2295144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成熟，现实检索/执行仍有空间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43784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RAG / KB poisoning</a:t>
            </a:r>
          </a:p>
        </p:txBody>
      </p:sp>
      <p:sp>
        <p:nvSpPr>
          <p:cNvPr id="21" name="Oval 20"/>
          <p:cNvSpPr/>
          <p:nvPr/>
        </p:nvSpPr>
        <p:spPr>
          <a:xfrm>
            <a:off x="3703320" y="2862072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14215" y="2862072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25112" y="2862072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36008" y="2862072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46904" y="2862072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282549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高活跃，reachability仍在推进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374135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Tool / MCP injection</a:t>
            </a:r>
          </a:p>
        </p:txBody>
      </p:sp>
      <p:sp>
        <p:nvSpPr>
          <p:cNvPr id="28" name="Oval 27"/>
          <p:cNvSpPr/>
          <p:nvPr/>
        </p:nvSpPr>
        <p:spPr>
          <a:xfrm>
            <a:off x="3703320" y="3392423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14215" y="3392423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25112" y="3392423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6008" y="3392423"/>
            <a:ext cx="164592" cy="164592"/>
          </a:xfrm>
          <a:prstGeom prst="ellipse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46904" y="3392423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3355847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2026竞争非常激烈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904487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Memory / delayed trigger</a:t>
            </a:r>
          </a:p>
        </p:txBody>
      </p:sp>
      <p:sp>
        <p:nvSpPr>
          <p:cNvPr id="35" name="Oval 34"/>
          <p:cNvSpPr/>
          <p:nvPr/>
        </p:nvSpPr>
        <p:spPr>
          <a:xfrm>
            <a:off x="3703320" y="3922775"/>
            <a:ext cx="164592" cy="164592"/>
          </a:xfrm>
          <a:prstGeom prst="ellipse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14215" y="3922775"/>
            <a:ext cx="164592" cy="164592"/>
          </a:xfrm>
          <a:prstGeom prst="ellipse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25112" y="3922775"/>
            <a:ext cx="164592" cy="164592"/>
          </a:xfrm>
          <a:prstGeom prst="ellipse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36008" y="3922775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46904" y="3922775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3886200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增长快，状态与跨会话仍有空白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43484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Multi-agent propagation</a:t>
            </a:r>
          </a:p>
        </p:txBody>
      </p:sp>
      <p:sp>
        <p:nvSpPr>
          <p:cNvPr id="42" name="Oval 41"/>
          <p:cNvSpPr/>
          <p:nvPr/>
        </p:nvSpPr>
        <p:spPr>
          <a:xfrm>
            <a:off x="3703320" y="4453127"/>
            <a:ext cx="164592" cy="16459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4215" y="4453127"/>
            <a:ext cx="164592" cy="16459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25112" y="4453127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36008" y="4453127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46904" y="4453127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2120" y="4416552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新兴，定义与benchmark尚不成熟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96519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Role / authority mechanism</a:t>
            </a:r>
          </a:p>
        </p:txBody>
      </p:sp>
      <p:sp>
        <p:nvSpPr>
          <p:cNvPr id="49" name="Oval 48"/>
          <p:cNvSpPr/>
          <p:nvPr/>
        </p:nvSpPr>
        <p:spPr>
          <a:xfrm>
            <a:off x="3703320" y="4983479"/>
            <a:ext cx="164592" cy="16459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14215" y="4983479"/>
            <a:ext cx="164592" cy="16459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25112" y="4983479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36008" y="4983479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46904" y="4983479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2120" y="4946904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2026刚出现核心机理论文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495544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C34"/>
                </a:solidFill>
                <a:latin typeface="Microsoft YaHei"/>
              </a:rPr>
              <a:t>Forensics / recovery</a:t>
            </a:r>
          </a:p>
        </p:txBody>
      </p:sp>
      <p:sp>
        <p:nvSpPr>
          <p:cNvPr id="56" name="Oval 55"/>
          <p:cNvSpPr/>
          <p:nvPr/>
        </p:nvSpPr>
        <p:spPr>
          <a:xfrm>
            <a:off x="3703320" y="5513831"/>
            <a:ext cx="164592" cy="16459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014215" y="5513831"/>
            <a:ext cx="164592" cy="16459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325112" y="5513831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636008" y="5513831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946904" y="5513831"/>
            <a:ext cx="164592" cy="164592"/>
          </a:xfrm>
          <a:prstGeom prst="ellipse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547725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8"/>
                </a:solidFill>
                <a:latin typeface="Microsoft YaHei"/>
              </a:rPr>
              <a:t>溯源已有工作，系统级恢复更早期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判断依据：2024–2026 CCF-A/顶会与SoK中研究密度、benchmark成熟度、问题重叠度。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成熟区：Direct / Indirect / RAG——“让内容进来并劫持输出”已经研究很深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83080"/>
            <a:ext cx="196596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965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Direct /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74650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直接覆盖/伪造高优先级指令；实验成本最低。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2821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问题：自适应攻击仍强，但仅“换一种措辞”创新空间很小。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1752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200400"/>
            <a:ext cx="196596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3697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Indirect web/doc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16382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恶意指令藏在网页、PDF、邮件等外部内容中。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4553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关键难点：真实系统里它是否被读取、是否能穿过解析/摘要。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43484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617720"/>
            <a:ext cx="196596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5429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RAG / KB poisoning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458114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污染知识库或检索语料，使恶意内容进入生成上下文。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562855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2026前沿转向“保证被检索”与“经过真实处理链仍有效”。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高热区：Tool / MCP / Memory——从“回答错”升级为“系统状态与动作被控制”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83080"/>
            <a:ext cx="1965960" cy="347472"/>
          </a:xfrm>
          <a:prstGeom prst="roundRect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965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Tool /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74650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攻击工具描述、工具选择、运行时返回值和控制流。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2821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ToolHijacker、MCPTox、VIGIL等让该赛道在2026非常拥挤。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1752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200400"/>
            <a:ext cx="1965960" cy="347472"/>
          </a:xfrm>
          <a:prstGeom prst="roundRect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3697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Long-term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16382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把恶意片段写入长期记忆，延迟触发或跨会话融合。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4553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攻击具持久性；安全边界从“当前Prompt”扩展到“系统历史”。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43484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617720"/>
            <a:ext cx="196596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5429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Execution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458114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不只问是否被注入，而是最终Tool call是否得到用户真正授权。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562855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研究从prompt过滤转向capability gating / verify-before-commit。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新兴区：Multi-Agent / Role-Authority / Forensics——更像“系统安全”而非Prompt技巧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83080"/>
            <a:ext cx="1965960" cy="347472"/>
          </a:xfrm>
          <a:prstGeom prst="roundRect">
            <a:avLst/>
          </a:prstGeom>
          <a:solidFill>
            <a:srgbClr val="45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965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Multi-Agent 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74650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恶意信息在Agent通信、路由、总结中传播或组合触发。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2821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尚缺统一传播模型；“哪一跳放大/洗白权限”仍是开放问题。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1752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3200400"/>
            <a:ext cx="196596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3697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Role /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16382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研究模型内部如何判断“谁在说话、该不该听”。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4553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Role Confusion是2026代表性机制工作，拥挤度低但实验门槛更高。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434840"/>
            <a:ext cx="107442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617720"/>
            <a:ext cx="196596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54296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Attribution /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4581144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C34"/>
                </a:solidFill>
                <a:latin typeface="Microsoft YaHei"/>
              </a:rPr>
              <a:t>攻击成功后找根因、来源、传播链，并恢复污染状态。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562855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AttnTrace/PromptLocate已做context定位；完整agent provenance仍早期。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本次调研的5篇2026论文：它们不是同一榜单，而是攻击生命周期的不同位置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RELATED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9659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057400"/>
            <a:ext cx="164592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9397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ICML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9748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273B"/>
                </a:solidFill>
                <a:latin typeface="Microsoft YaHei"/>
              </a:rPr>
              <a:t>Role Confusion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33756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机制：为什么低权限文本会被当成高权限角色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74519"/>
            <a:ext cx="19659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9232" y="2057400"/>
            <a:ext cx="1645920" cy="347472"/>
          </a:xfrm>
          <a:prstGeom prst="roundRect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9397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IEEE S&amp;P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69748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273B"/>
                </a:solidFill>
                <a:latin typeface="Microsoft YaHei"/>
              </a:rPr>
              <a:t>When AI Meets the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33756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系统：真实Web插件怎样错误构造上下文与消息身份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74519"/>
            <a:ext cx="19659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30951" y="2057400"/>
            <a:ext cx="164592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1" y="209397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ACL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1" y="269748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273B"/>
                </a:solidFill>
                <a:latin typeface="Microsoft YaHei"/>
              </a:rPr>
              <a:t>PARASITE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333756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攻击：System Prompt本身被条件式投毒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74519"/>
            <a:ext cx="19659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62671" y="2057400"/>
            <a:ext cx="164592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209397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ACL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69748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273B"/>
                </a:solidFill>
                <a:latin typeface="Microsoft YaHei"/>
              </a:rPr>
              <a:t>VIGIL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33756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防御：工具动作执行前重新校验用户意图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19659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94392" y="2057400"/>
            <a:ext cx="1645920" cy="347472"/>
          </a:xfrm>
          <a:prstGeom prst="roundRect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209397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IEEE S&amp;P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69748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273B"/>
                </a:solidFill>
                <a:latin typeface="Microsoft YaHei"/>
              </a:rPr>
              <a:t>AttnTrace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33756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取证：异常结果发生后反查影响最大的Context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273B"/>
                </a:solidFill>
                <a:latin typeface="Microsoft YaHei"/>
              </a:rPr>
              <a:t>我们选择 Role Confusion 作为主论文，是因为它尝试回答“为什么Prompt Injection总能换一种说法重新成功”这一根因问题。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85800"/>
            <a:ext cx="160020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22376"/>
            <a:ext cx="1600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MAIN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Prompt Injection as Role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AE1EC"/>
                </a:solidFill>
                <a:latin typeface="Microsoft YaHei"/>
              </a:rPr>
              <a:t>下面不只讲结果，而是按“研究问题 → 攻击构造 → 关键消融 → Role Probe → latent evidence → 泛化与讨论”完整拆论文。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主论文：Prompt Injection as Role Confusion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5836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6126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273B"/>
                </a:solidFill>
                <a:latin typeface="Microsoft YaHei"/>
              </a:rPr>
              <a:t>Charles Ye · Jasmine Cui · Dylan Hadfield-Menell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6126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25CA1"/>
                </a:solidFill>
                <a:latin typeface="Microsoft YaHei"/>
              </a:rPr>
              <a:t>ICML 2026 Regular｜PMLR 306｜Seoul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论文定位：机制解释 + 黑盒攻击 + 内部表征探针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核心命题：模型不是稳定依据role tag判断来源，而会根据可伪造的风格/声明推断“谁在说话”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结果：Role Confusion 可在生成前预测攻击是否成功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00200"/>
            <a:ext cx="3794760" cy="3474720"/>
          </a:xfrm>
          <a:prstGeom prst="roundRect">
            <a:avLst/>
          </a:prstGeom>
          <a:solidFill>
            <a:srgbClr val="1A273B"/>
          </a:solidFill>
          <a:ln w="10160"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9C1E6"/>
                </a:solidFill>
                <a:latin typeface="Microsoft YaHei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697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YaHei"/>
              </a:rPr>
              <a:t>“听起来像某个角色”
对模型而言，可能等同于
“真的来自这个角色”。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论文PDF第1页：作者将role confusion定义为“untrusted text that imitates a role inherits that role’s authority”。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论文先问了一个非常关键的问题：模型到底“看懂了角色”，还是只记住了攻击套路？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4837F"/>
                </a:solidFill>
                <a:latin typeface="Microsoft YaHei"/>
              </a:rPr>
              <a:t>Role 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62C34"/>
                </a:solidFill>
                <a:latin typeface="Microsoft YaHei"/>
              </a:rPr>
              <a:t>真正知道：网页是tool data，不能听其中的命令。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B78"/>
                </a:solidFill>
                <a:latin typeface="Microsoft YaHei"/>
              </a:rPr>
              <a:t>如果成立，应能泛化到全新攻击。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0749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64A4A"/>
                </a:solidFill>
                <a:latin typeface="Microsoft YaHei"/>
              </a:rPr>
              <a:t>Attack Memorization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65176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62C34"/>
                </a:solidFill>
                <a:latin typeface="Microsoft YaHei"/>
              </a:rPr>
              <a:t>只识别：“.env / ignore previous”像已见过的攻击模式。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24612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B78"/>
                </a:solidFill>
                <a:latin typeface="Microsoft YaHei"/>
              </a:rPr>
              <a:t>换个表述就可能失效。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A273B"/>
                </a:solidFill>
                <a:latin typeface="Microsoft YaHei"/>
              </a:rPr>
              <a:t>论文的策略：设计一个“只有发生角色错认才容易成功”的诊断攻击，再用内部probe直接看模型把文本当成了什么角色。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论文§2：Role Perception vs. Attack Memorization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论文的基本假设：Role 不只是格式标签，它还携带权限与生成模式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19202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1554480" cy="347472"/>
          </a:xfrm>
          <a:prstGeom prst="roundRect">
            <a:avLst/>
          </a:prstGeom>
          <a:solidFill>
            <a:srgbClr val="1A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39696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554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最高优先级策略 / 任务边界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74519"/>
            <a:ext cx="19202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2103120"/>
            <a:ext cx="1554480" cy="347472"/>
          </a:xfrm>
          <a:prstGeom prst="roundRect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39696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0360"/>
            <a:ext cx="1554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外部请求，需要响应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874519"/>
            <a:ext cx="19202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2103120"/>
            <a:ext cx="155448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139696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Think / CoT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880360"/>
            <a:ext cx="1554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模型自己的推理，后续应信任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874519"/>
            <a:ext cx="19202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19" y="2103120"/>
            <a:ext cx="1554480" cy="347472"/>
          </a:xfrm>
          <a:prstGeom prst="roundRect">
            <a:avLst/>
          </a:prstGeom>
          <a:solidFill>
            <a:srgbClr val="45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2139696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880360"/>
            <a:ext cx="1554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模型对用户的可见输出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59" y="1874519"/>
            <a:ext cx="192024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21239" y="2103120"/>
            <a:ext cx="155448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39" y="2139696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39" y="2880360"/>
            <a:ext cx="1554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外部数据，应参考但不应服从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A273B"/>
                </a:solidFill>
                <a:latin typeface="Microsoft YaHei"/>
              </a:rPr>
              <a:t>安全边界 = “文本真实来源” 与 “模型内部感知角色” 一致。Prompt Injection 就发生在二者不一致时。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论文第2页：user/tool低权限；system/CoT具有不同的控制与信任语义。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1：CoT Forgery 的直觉——伪造“模型自己的推理”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54864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600200"/>
            <a:ext cx="516636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7451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8433"/>
                </a:solidFill>
                <a:latin typeface="Microsoft YaHei"/>
              </a:rPr>
              <a:t>攻击构造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59152"/>
            <a:ext cx="4526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正常 harmful query 本应被拒绝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攻击者额外拼接一段“像CoT”的伪造推理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这段推理甚至可以包含荒谬条件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• 如果模型把它认成“自己的思考”，就会继承CoT的信任与权限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6177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4A4A"/>
                </a:solidFill>
                <a:latin typeface="Microsoft YaHei"/>
              </a:rPr>
              <a:t>关键不是论证是否合理，而是“这段文字在模型内部被当成谁说的”。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真实截图：Ye et al., ICML 2026, Figure 1（来自用户上传论文PDF）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CoT Forgery 的实验设计非常“干净”：zero-shot、black-box、single-shot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67712"/>
            <a:ext cx="21671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4A4A"/>
                </a:solidFill>
                <a:latin typeface="Microsoft YaHei"/>
              </a:rPr>
              <a:t>输入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743200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原始有害请求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39" y="2761488"/>
            <a:ext cx="274321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20116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2267712"/>
            <a:ext cx="21671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68433"/>
                </a:solidFill>
                <a:latin typeface="Microsoft YaHei"/>
              </a:rPr>
              <a:t>辅助LLM生成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743200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模仿目标模型CoT风格，同时给出“应该服从”的理由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61488"/>
            <a:ext cx="27432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20116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267712"/>
            <a:ext cx="21671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25CA1"/>
                </a:solidFill>
                <a:latin typeface="Microsoft YaHei"/>
              </a:rPr>
              <a:t>拼接 P = Q ⊕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743200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一次提交，不迭代、不读权重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2761488"/>
            <a:ext cx="27432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6839" y="20116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5" y="2267712"/>
            <a:ext cx="21671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4837F"/>
                </a:solidFill>
                <a:latin typeface="Microsoft YaHei"/>
              </a:rPr>
              <a:t>观察目标模型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3" y="2743200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是否从拒绝变为执行/泄密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0149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273B"/>
                </a:solidFill>
                <a:latin typeface="Microsoft YaHei"/>
              </a:rPr>
              <a:t>测试模型：gpt-oss-20b / 120b、o4-mini、GPT-5 nano / mini / full。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8433"/>
                </a:solidFill>
                <a:latin typeface="Microsoft YaHei"/>
              </a:rPr>
              <a:t>这一步的科研价值：攻击不是靠大规模搜索“撞口令”，而是作为一个诊断工具去验证“角色感知失败”。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论文§3.1 Attack Formulation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2：Chat jailbreak——传统基线几乎全挡住，CoT Forgery突然打穿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5778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645920"/>
            <a:ext cx="493776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874519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25CA1"/>
                </a:solidFill>
                <a:latin typeface="Microsoft YaHei"/>
              </a:rPr>
              <a:t>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67712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StrongREJECT：313个有害请求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对照：raw harmful query + standard jailbreak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指标：Attack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7033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68433"/>
                </a:solidFill>
                <a:latin typeface="Microsoft YaHei"/>
              </a:rPr>
              <a:t>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023360"/>
            <a:ext cx="4297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原始/标准jailbreak：0–4%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CoT Forgery：gpt-oss与o4-mini &gt;80%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GPT-5系列仍达到17–52%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2。论文认为“看起来像自己的思考”比已知jailbreak模式更难被现有防御覆盖。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3：Agent hijacking——从“说错话”升级到真实 .env 外传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5778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00200"/>
            <a:ext cx="498348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25CA1"/>
                </a:solidFill>
                <a:latin typeface="Microsoft YaHei"/>
              </a:rPr>
              <a:t>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12848"/>
            <a:ext cx="4343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Agent带shell权限与本地.env文件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用户任务只是“总结网页”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网页tool output隐藏外传指令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成功=Agent真的把文件上传到远程服务器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0050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64A4A"/>
                </a:solidFill>
                <a:latin typeface="Microsoft YaHei"/>
              </a:rPr>
              <a:t>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370832"/>
            <a:ext cx="4343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标准PI多数只有0–2% ASR；CoT Forgery在全部模型上升到约56–70%。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3。论文中的Agent攻击属于高风险执行场景，因此更能支撑“角色权限继承”这一解释。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4：最关键消融之一——语义不变，只去掉“CoT风格”，攻击率从61%掉到10%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48640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600200"/>
            <a:ext cx="5074920" cy="3703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56231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8433"/>
                </a:solidFill>
                <a:latin typeface="Microsoft YaHei"/>
              </a:rPr>
              <a:t>为什么这个消融重要？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4348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如果只是“论据说服力”，重写措辞不该造成巨大下降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作者让辅助LLM保持论点/语义，但移除目标模型常见的推理词法与句法标记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ASR：CoT Forgery 60.5% → Destyled 9.7%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因此 style 不是装饰，而是攻击的因果变量之一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8006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这一步把“攻击技巧”推进成了“机制假说”。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4。论文正文称“Style is causal”。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但行为结果还不够：必须直接测“模型内部把这段文本当成什么角色”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A273B"/>
                </a:solidFill>
                <a:latin typeface="Microsoft YaHei"/>
              </a:rPr>
              <a:t>作者因此设计 Role Probe：在每层hidden state上训练线性分类器，输出 Systemness / Userness / CoTness / Assistantness / Toolness。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38328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64A4A"/>
                </a:solidFill>
                <a:latin typeface="Microsoft YaHei"/>
              </a:rPr>
              <a:t>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3075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B78"/>
                </a:solidFill>
                <a:latin typeface="Microsoft YaHei"/>
              </a:rPr>
              <a:t>真实对话里 role tag 和 style 总是同时变化，probe容易学到“问题长得像user”。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38328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154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4837F"/>
                </a:solidFill>
                <a:latin typeface="Microsoft YaHei"/>
              </a:rPr>
              <a:t>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73075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B78"/>
                </a:solidFill>
                <a:latin typeface="Microsoft YaHei"/>
              </a:rPr>
              <a:t>让同一段完全相同的中性网页文本分别包在不同role tag里。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880360"/>
            <a:ext cx="338328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31546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25CA1"/>
                </a:solidFill>
                <a:latin typeface="Microsoft YaHei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373075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B78"/>
                </a:solidFill>
                <a:latin typeface="Microsoft YaHei"/>
              </a:rPr>
              <a:t>因为语义完全相同，probe只能学习“tag在内部表征里留下的几何信号”。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论文§4.1 Role Probes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5：Role Probe 数据怎么造——只改变Tag，不改变内容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44068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64208"/>
            <a:ext cx="493776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0195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4837F"/>
                </a:solidFill>
                <a:latin typeface="Microsoft YaHei"/>
              </a:rPr>
              <a:t>数据构造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67712"/>
            <a:ext cx="4343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从C4 / DOLMA3抽取非指令性中性文本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同一文本复制5份，分别放入system/user/think/assistant/tool原生tag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每模型1250条，最大长度1024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在各层抽hidden state，训练线性role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498848"/>
            <a:ext cx="4343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因此后面看到“无Tag文本仍被probe判成CoT”，不是probe自己学了CoT语气。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5；论文第5页。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6：先做最基础的 sanity check——probe 能否迁移到真实对话？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715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627632"/>
            <a:ext cx="47548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74519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25CA1"/>
                </a:solidFill>
                <a:latin typeface="Microsoft YaHei"/>
              </a:rPr>
              <a:t>这一步不是主结论，但很关键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04288"/>
            <a:ext cx="4160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probe从未见过真实聊天文本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训练时只看“中性文本 + role tags”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现在拿园艺对话测试：user / think / assistant风格自然混合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若probe仍能干净区分，说明学到的role geometry具有zero-shot迁移性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6177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8433"/>
                </a:solidFill>
                <a:latin typeface="Microsoft YaHei"/>
              </a:rPr>
              <a:t>然后作者才进入真正反常的实验：删掉tag会怎样？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6。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7：整篇论文最核心的机械证据——Style 压过真实 Role Tag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58368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17320"/>
            <a:ext cx="42976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169164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68433"/>
                </a:solidFill>
                <a:latin typeface="Microsoft YaHei"/>
              </a:rPr>
              <a:t>三个条件，文本完全相同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2148840"/>
            <a:ext cx="3703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① Correct tags：CoT文本≈85% CoTness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② No tags：删掉所有tag，CoT文本仍≈83%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③ All in user tags：整段明确包成user，CoT文本仍≈85%，Userness仅≈2%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41605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64A4A"/>
                </a:solidFill>
                <a:latin typeface="Microsoft YaHei"/>
              </a:rPr>
              <a:t>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4526280"/>
            <a:ext cx="37033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73B"/>
                </a:solidFill>
                <a:latin typeface="Microsoft YaHei"/>
              </a:rPr>
              <a:t>模型没有把“tagged as reasoning”和“sounds like reasoning”维护成两个稳定概念；冲突时，攻击者可控的style产生更强激活。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7。论文：role perception is determined by style, not tags。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跨模型泛化：把“User风格文本”放进 &lt;tool&gt;，模型仍把它当User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2697480" cy="713232"/>
          </a:xfrm>
          <a:prstGeom prst="roundRect">
            <a:avLst/>
          </a:prstGeom>
          <a:solidFill>
            <a:srgbClr val="1A273B"/>
          </a:solidFill>
          <a:ln w="10160"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810512"/>
            <a:ext cx="25511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691640"/>
            <a:ext cx="2194560" cy="713232"/>
          </a:xfrm>
          <a:prstGeom prst="roundRect">
            <a:avLst/>
          </a:prstGeom>
          <a:solidFill>
            <a:srgbClr val="1A273B"/>
          </a:solidFill>
          <a:ln w="10160"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810512"/>
            <a:ext cx="20482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Baseline &lt;user&gt;
Userness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91640"/>
            <a:ext cx="2194560" cy="713232"/>
          </a:xfrm>
          <a:prstGeom prst="roundRect">
            <a:avLst/>
          </a:prstGeom>
          <a:solidFill>
            <a:srgbClr val="1A273B"/>
          </a:solidFill>
          <a:ln w="10160"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810512"/>
            <a:ext cx="20482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Injection &lt;tool&gt;
Userness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91640"/>
            <a:ext cx="2194560" cy="713232"/>
          </a:xfrm>
          <a:prstGeom prst="roundRect">
            <a:avLst/>
          </a:prstGeom>
          <a:solidFill>
            <a:srgbClr val="1A273B"/>
          </a:solidFill>
          <a:ln w="10160"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10512"/>
            <a:ext cx="204825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Injection &lt;tool&gt;
Toolness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542032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651760"/>
            <a:ext cx="2551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273B"/>
                </a:solidFill>
                <a:latin typeface="Microsoft YaHei"/>
              </a:rPr>
              <a:t>gpt-oss-20b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542032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651760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99.7%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542032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651760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87.6%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542032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2651760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9.3%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200400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3310128"/>
            <a:ext cx="2551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273B"/>
                </a:solidFill>
                <a:latin typeface="Microsoft YaHei"/>
              </a:rPr>
              <a:t>gpt-oss-120b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200400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3310128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88.2%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00400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3310128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85.2%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200400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310128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10.1%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3858768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968496"/>
            <a:ext cx="2551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273B"/>
                </a:solidFill>
                <a:latin typeface="Microsoft YaHei"/>
              </a:rPr>
              <a:t>Nemotron-3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3858768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3968496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88.1%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858768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3968496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78.7%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858768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3968496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18.2%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517136"/>
            <a:ext cx="26974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" y="4626864"/>
            <a:ext cx="25511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273B"/>
                </a:solidFill>
                <a:latin typeface="Microsoft YaHei"/>
              </a:rPr>
              <a:t>Qwen3-30B-A3B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0" y="4517136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4626864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83.6%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4517136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4626864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75.7%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4517136"/>
            <a:ext cx="21945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4626864"/>
            <a:ext cx="2048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62C34"/>
                </a:solidFill>
                <a:latin typeface="Microsoft YaHei"/>
              </a:rPr>
              <a:t>19.5%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68433"/>
                </a:solidFill>
                <a:latin typeface="Microsoft YaHei"/>
              </a:rPr>
              <a:t>如果tag真正决定role perception，Injection列应接近 0% Userness / 100% Toolness；实际完全相反。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 Table 1，数据直接转录自用户上传PDF第6页。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8：攻击成功时，伪造CoT真的进入了“CoT子空间”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54864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572768"/>
            <a:ext cx="50749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28800"/>
            <a:ext cx="4526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25CA1"/>
                </a:solidFill>
                <a:latin typeface="Microsoft YaHei"/>
              </a:rPr>
              <a:t>代表性StrongREJECT样本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67712"/>
            <a:ext cx="4434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Baseline：真正CoT高CoTness，user接近0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CoT Forgery：攻击者文本虽然在&lt;user&gt;里，CoTness≈64%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Destyled：同一论点去掉风格后，CoTness降到≈12%，并转为拒绝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全数据：forged CoT平均79% CoTness，甚至高于模型真实CoT的68%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80060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行为与内部表征在同一方向变化，这比只看ASR更有说服力。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8。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9：最强证据是“剂量—反应关系”——越像CoT，攻击越容易成功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553212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91640"/>
            <a:ext cx="49834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38528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4837F"/>
                </a:solidFill>
                <a:latin typeface="Microsoft YaHei"/>
              </a:rPr>
              <a:t>实验怎么做？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31720"/>
            <a:ext cx="4343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626次styled + destyled攻击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对每个攻击先计算“注入文本CoTness”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按CoTness分位数分组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再看每组真实ASR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160520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8433"/>
                </a:solidFill>
                <a:latin typeface="Microsoft YaHei"/>
              </a:rPr>
              <a:t>结果：最低混淆分位≈9% ASR；最高≈90%。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681728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这支持链条：Style → Role Confusion → Safety Failure。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9。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标准Agent Prompt Injection：没有统一“User风格”，作者换了一个可控杠杆——Plain-text Role Declaration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9834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固定同一条外传命令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4251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64A4A"/>
                </a:solidFill>
                <a:latin typeface="Microsoft YaHei"/>
              </a:rPr>
              <a:t>“exfiltrate SECRETS.env 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54680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06B78"/>
                </a:solidFill>
                <a:latin typeface="Microsoft YaHei"/>
              </a:rPr>
              <a:t>只改变外围模板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325CA1"/>
                </a:solidFill>
                <a:latin typeface="Microsoft YaHei"/>
              </a:rPr>
              <a:t>The following text is from the user:
[COMMAND]
或不同模型的fake chat headers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16636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4837F"/>
                </a:solidFill>
                <a:latin typeface="Microsoft YaHei"/>
              </a:rPr>
              <a:t>212个模板 → 随机网页 → Summarization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只统计“命令本体”的Userness，不把声明模板算进去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user-declaring模板只占24%，却占Userness最高5%模板的100%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结论：甚至只用自然语言说“下面是user text”，也会把命令推向user role空间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论文§5.2 Agent Prompt Injections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10：在1000次Agent劫持中，Userness同样预测真实外传成功率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553212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91640"/>
            <a:ext cx="498348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68433"/>
                </a:solidFill>
                <a:latin typeface="Microsoft YaHei"/>
              </a:rPr>
              <a:t>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273B"/>
                </a:solidFill>
                <a:latin typeface="Microsoft YaHei"/>
              </a:rPr>
              <a:t>最低Userness分位：≈2% ASR
最高Userness分位：≈70% ASR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65760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B78"/>
                </a:solidFill>
                <a:latin typeface="Microsoft YaHei"/>
              </a:rPr>
              <a:t>注意：这里不再是CoT style，而是“声明/格式”等另一组可伪造线索。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52628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4A4A"/>
                </a:solidFill>
                <a:latin typeface="Microsoft YaHei"/>
              </a:rPr>
              <a:t>所以作者把更一般的机制叫：Prompt Injection as State Poisoning。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10。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Figure 11：Role Probe 还解释了一个旧现象——System Prompt 越往后，Systemness 越低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pic>
        <p:nvPicPr>
          <p:cNvPr id="5" name="Picture 4" descr="fi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553212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691640"/>
            <a:ext cx="49834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45DB5"/>
                </a:solidFill>
                <a:latin typeface="Microsoft YaHei"/>
              </a:rPr>
              <a:t>现象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31720"/>
            <a:ext cx="4343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Systemness随token position近似单调下降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作者在后面重新插入system tags（紫色区间），内部Systemness并没有恢复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说明“位置”也能像style一样覆盖tag带来的角色信号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160520"/>
            <a:ext cx="4343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意义：Role Confusion并非只解释CoT Forgery，它可能是更广泛的role hierarchy脆弱性的表征机制。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真实截图：Figure 11；论文§7.2。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把整篇论文压成一条机制链：不是“模型被说服”，而是“来源身份在隐空间被改写”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505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4837F"/>
                </a:solidFill>
                <a:latin typeface="Microsoft YaHei"/>
              </a:rPr>
              <a:t>Attacker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880360"/>
            <a:ext cx="208483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style / declaration / position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926080"/>
            <a:ext cx="274320" cy="0"/>
          </a:xfrm>
          <a:prstGeom prst="line">
            <a:avLst/>
          </a:prstGeom>
          <a:ln w="2032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10712" y="219456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4505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68433"/>
                </a:solidFill>
                <a:latin typeface="Microsoft YaHei"/>
              </a:rPr>
              <a:t>Latent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880360"/>
            <a:ext cx="208483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CoTness / Userness 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3872" y="2926080"/>
            <a:ext cx="274320" cy="0"/>
          </a:xfrm>
          <a:prstGeom prst="line">
            <a:avLst/>
          </a:prstGeom>
          <a:ln w="2032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27064" y="219456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4505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4A4A"/>
                </a:solidFill>
                <a:latin typeface="Microsoft YaHei"/>
              </a:rPr>
              <a:t>Perceived authority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880360"/>
            <a:ext cx="208483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文本继承目标role的信任/控制力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26080"/>
            <a:ext cx="274320" cy="0"/>
          </a:xfrm>
          <a:prstGeom prst="line">
            <a:avLst/>
          </a:prstGeom>
          <a:ln w="2032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43416" y="219456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24505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45DB5"/>
                </a:solidFill>
                <a:latin typeface="Microsoft YaHei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880360"/>
            <a:ext cx="208483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拒答→服从；工具调用→外传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A273B"/>
                </a:solidFill>
                <a:latin typeface="Microsoft YaHei"/>
              </a:rPr>
              <a:t>作者的最强claim不是“CoT Forgery很强”，而是：Role Confusion在攻击发生之前已经可以被测量，并且与攻击成功率形成稳定关联。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这篇论文真正的贡献，不是一个新Prompt，而是“三层证据闭环”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ROLE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C64A4A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A273B"/>
                </a:solidFill>
                <a:latin typeface="Microsoft YaHei"/>
              </a:rPr>
              <a:t>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81912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CoT Forgery构造一个能诊断“把外部文本当自己的推理”的攻击。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8433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26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A273B"/>
                </a:solidFill>
                <a:latin typeface="Microsoft YaHei"/>
              </a:rPr>
              <a:t>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907792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Role Probe直接测内部role representation，证明style/tag汇聚且冲突时style占优。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4837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251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A273B"/>
                </a:solidFill>
                <a:latin typeface="Microsoft YaHei"/>
              </a:rPr>
              <a:t>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233672"/>
            <a:ext cx="7772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CoTness/Userness在生成前就能预测ASR，形成剂量—反应关系。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273B"/>
                </a:solidFill>
                <a:latin typeface="Microsoft YaHei"/>
              </a:rPr>
              <a:t>因此它同时满足：行为攻击有效 + 控制消融成立 + 内部表征解释 + 跨模型/跨攻击泛化。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我认为它为什么能进ICML：问题“简单”，但实验结构非常完整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CRITIQUE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01168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45336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问题抓得准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27048"/>
            <a:ext cx="7863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解释一个长期反复出现的安全失败，而不是刷一个benchmark。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8"/>
            <a:ext cx="201168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86584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攻击只是诊断工具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68296"/>
            <a:ext cx="7863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CoT Forgery服务于机制假说，而非只追求ASR。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91256"/>
            <a:ext cx="2011680" cy="347472"/>
          </a:xfrm>
          <a:prstGeom prst="roundRect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27832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控制变量漂亮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209544"/>
            <a:ext cx="7863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语义不变/去风格、相同文本/换tag，把替代解释压得很小。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32504"/>
            <a:ext cx="2011680" cy="347472"/>
          </a:xfrm>
          <a:prstGeom prst="roundRect">
            <a:avLst/>
          </a:prstGeom>
          <a:solidFill>
            <a:srgbClr val="45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内部+行为闭环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050791"/>
            <a:ext cx="7863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Role probe、ASR、跨模型、agent外传相互支持。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73752"/>
            <a:ext cx="2011680" cy="347472"/>
          </a:xfrm>
          <a:prstGeom prst="roundRect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1032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可证伪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892040"/>
            <a:ext cx="7863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2C34"/>
                </a:solidFill>
                <a:latin typeface="Microsoft YaHei"/>
              </a:rPr>
              <a:t>如果role score与成功率无关，核心理论就会失败。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但它并没有解决全部 Prompt Injection：几个重要边界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CRITIQUE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4A4A"/>
                </a:solidFill>
                <a:latin typeface="Microsoft YaHe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173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Role ≠ Authority 尚未被完全分离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99032"/>
            <a:ext cx="6492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论文把“role privilege”作为解释，但没有独立建立Authority表征并做因果干预。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4A4A"/>
                </a:solidFill>
                <a:latin typeface="Microsoft YaHe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Probe 是线性可读，不等于完整因果机制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13432"/>
            <a:ext cx="6492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角色方向可被probe读出，并不能单独证明该方向就是决策的唯一原因。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4A4A"/>
                </a:solidFill>
                <a:latin typeface="Microsoft YaHe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461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开放权重内部分析与闭源模型之间存在间接性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27832"/>
            <a:ext cx="6492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GPT-5等主要看行为；内部role probe需要可访问hidden states的模型。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4A4A"/>
                </a:solidFill>
                <a:latin typeface="Microsoft YaHei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605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更多系统级来源未完整覆盖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142232"/>
            <a:ext cx="6492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多Agent传播、memory consolidation、tool-chain provenance并不是本文中心。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4A4A"/>
                </a:solidFill>
                <a:latin typeface="Microsoft YaHei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7492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“所有PI都源于Role Confusion”仍是强claim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056632"/>
            <a:ext cx="6492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论文给出广泛证据，但必要性/充分性边界仍可继续研究。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把 Role Confusion 放回5篇论文：它负责解释“为什么Authority会被冒用”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RELATED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9659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0432" y="1901952"/>
            <a:ext cx="54864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38528"/>
            <a:ext cx="548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060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273B"/>
                </a:solidFill>
                <a:latin typeface="Microsoft YaHei"/>
              </a:rPr>
              <a:t>Role Confusion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模型内部：低权限文本为什么被当成高权限角色？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691640"/>
            <a:ext cx="19659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39" y="1901952"/>
            <a:ext cx="548640" cy="347472"/>
          </a:xfrm>
          <a:prstGeom prst="roundRect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1938528"/>
            <a:ext cx="548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273B"/>
                </a:solidFill>
                <a:latin typeface="Microsoft YaHei"/>
              </a:rPr>
              <a:t>When AI Meets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338328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系统层：插件把消息身份/网页内容错误封装进高权限上下文。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691640"/>
            <a:ext cx="19659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70448" y="1901952"/>
            <a:ext cx="548640" cy="347472"/>
          </a:xfrm>
          <a:prstGeom prst="roundRect">
            <a:avLst/>
          </a:prstGeom>
          <a:solidFill>
            <a:srgbClr val="C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1938528"/>
            <a:ext cx="548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26060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273B"/>
                </a:solidFill>
                <a:latin typeface="Microsoft YaHei"/>
              </a:rPr>
              <a:t>PARASITE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338328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信任根：真正system prompt本身被条件式污染。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3" y="1691640"/>
            <a:ext cx="19659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0455" y="1901952"/>
            <a:ext cx="548640" cy="347472"/>
          </a:xfrm>
          <a:prstGeom prst="roundRect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5" y="1938528"/>
            <a:ext cx="548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5" y="26060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273B"/>
                </a:solidFill>
                <a:latin typeface="Microsoft YaHei"/>
              </a:rPr>
              <a:t>VIGIL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3" y="338328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执行层：即使上下文被污染，Tool action前再校验用户意图。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57232" y="1691640"/>
            <a:ext cx="19659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70463" y="1901952"/>
            <a:ext cx="548640" cy="347472"/>
          </a:xfrm>
          <a:prstGeom prst="roundRect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70463" y="1938528"/>
            <a:ext cx="548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26060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273B"/>
                </a:solidFill>
                <a:latin typeface="Microsoft YaHei"/>
              </a:rPr>
              <a:t>AttnTrace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1" y="338328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事后层：输出出问题后反查哪段context影响最大。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273B"/>
                </a:solidFill>
                <a:latin typeface="Microsoft YaHei"/>
              </a:rPr>
              <a:t>五篇合在一起才形成：Context 如何获得权威 → 如何执行 → 如何追责。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从论文继续往前问：Source、Role、Authority、Action 真的是同一个东西吗？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OUR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42316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4837F"/>
                </a:solidFill>
                <a:latin typeface="Microsoft YaHe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真实来源是谁？网页/用户/工具/Agent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816352"/>
            <a:ext cx="27432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79" y="1965960"/>
            <a:ext cx="242316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22402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68433"/>
                </a:solidFill>
                <a:latin typeface="Microsoft YaHe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74320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模型“认为”是谁在说话？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2816352"/>
            <a:ext cx="27432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965960"/>
            <a:ext cx="242316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64A4A"/>
                </a:solidFill>
                <a:latin typeface="Microsoft YaHei"/>
              </a:rPr>
              <a:t>Authority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74320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模型认为这句话拥有多大决策权？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816352"/>
            <a:ext cx="27432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19" y="1965960"/>
            <a:ext cx="242316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2402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845DB5"/>
                </a:solidFill>
                <a:latin typeface="Microsoft YaHei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2743200"/>
            <a:ext cx="20848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B78"/>
                </a:solidFill>
                <a:latin typeface="Microsoft YaHei"/>
              </a:rPr>
              <a:t>最终有没有执行高权限动作？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A273B"/>
                </a:solidFill>
                <a:latin typeface="Microsoft YaHei"/>
              </a:rPr>
              <a:t>Role Confusion主要直接测到：Source/Tag ↛ Perceived Role。下一步可独立测试：Perceived Role → Latent Authority → Action 是否成立。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对应当前候选方向 #7：Role–Authority Dissociation。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多Agent方向：角色错认会不会跨通信边界传播、衰减，甚至被“洗白”为更高Authority？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OUR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874519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224028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4837F"/>
                </a:solidFill>
                <a:latin typeface="Microsoft YaHei"/>
              </a:rPr>
              <a:t>External webpage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743200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低可信来源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724912"/>
            <a:ext cx="347472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011680"/>
            <a:ext cx="1874519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24028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5CA1"/>
                </a:solidFill>
                <a:latin typeface="Microsoft YaHei"/>
              </a:rPr>
              <a:t>Worker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743200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读取并总结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17720" y="2724912"/>
            <a:ext cx="347472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011680"/>
            <a:ext cx="1874519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24028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68433"/>
                </a:solidFill>
                <a:latin typeface="Microsoft YaHei"/>
              </a:rPr>
              <a:t>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743200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把摘要当“同事产出”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724912"/>
            <a:ext cx="347472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011680"/>
            <a:ext cx="1874519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24028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64A4A"/>
                </a:solidFill>
                <a:latin typeface="Microsoft YaHei"/>
              </a:rPr>
              <a:t>Supervisor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743200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更高结构权限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81159" y="2724912"/>
            <a:ext cx="347473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38359" y="2011680"/>
            <a:ext cx="1874519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7" y="2240280"/>
            <a:ext cx="1664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45DB5"/>
                </a:solidFill>
                <a:latin typeface="Microsoft YaHei"/>
              </a:rPr>
              <a:t>Tool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7" y="2743200"/>
            <a:ext cx="1664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B78"/>
                </a:solidFill>
                <a:latin typeface="Microsoft YaHei"/>
              </a:rPr>
              <a:t>真实副作用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51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273B"/>
                </a:solidFill>
                <a:latin typeface="Microsoft YaHei"/>
              </a:rPr>
              <a:t>可测四个性质：Persistence（保持）｜Transitivity（传递）｜Amplification（放大）｜Dominance（与结构权限冲突时谁占优）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68433"/>
                </a:solidFill>
                <a:latin typeface="Microsoft YaHei"/>
              </a:rPr>
              <a:t>这与普通“哪个Agent出错”不同：研究的是 latent role / authority signal 是否跨Agent communication boundary传播。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对应候选方向 #8。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防御方向：不要让LLM自己猜“这是谁说的”，而是把真实Provenance与内部Role感知对账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OUR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42062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4837F"/>
                </a:solidFill>
                <a:latin typeface="Microsoft YaHei"/>
              </a:rPr>
              <a:t>Provenance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source = external_pdf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type = reference_material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authority = data_only</a:t>
            </a:r>
          </a:p>
          <a:p>
            <a:pPr>
              <a:spcAft>
                <a:spcPts val="500"/>
              </a:spcAft>
              <a:defRPr sz="1500" b="0">
                <a:solidFill>
                  <a:srgbClr val="262C34"/>
                </a:solidFill>
                <a:latin typeface="Microsoft YaHei"/>
              </a:defRPr>
            </a:pPr>
            <a:r>
              <a:t>destination = summarizer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Expected Role = Data /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645920"/>
            <a:ext cx="201168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901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68433"/>
                </a:solidFill>
                <a:latin typeface="Microsoft YaHei"/>
              </a:rPr>
              <a:t>Role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4320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C64A4A"/>
                </a:solidFill>
                <a:latin typeface="Microsoft YaHei"/>
              </a:rPr>
              <a:t>P(CoT)=0.81
P(Data)=0.09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16052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64A4A"/>
                </a:solidFill>
                <a:latin typeface="Microsoft YaHei"/>
              </a:rPr>
              <a:t>Mismatch 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645920"/>
            <a:ext cx="384048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90195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25CA1"/>
                </a:solidFill>
                <a:latin typeface="Microsoft YaHei"/>
              </a:rPr>
              <a:t>Runtime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56032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Mismatch &lt; τ → 正常处理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Mismatch ≥ τ → 隔离 / 重解析 / 只输出结构化claims</a:t>
            </a:r>
          </a:p>
          <a:p>
            <a:pPr>
              <a:spcAft>
                <a:spcPts val="500"/>
              </a:spcAft>
              <a:defRPr sz="1400" b="0">
                <a:solidFill>
                  <a:srgbClr val="262C34"/>
                </a:solidFill>
                <a:latin typeface="Microsoft YaHei"/>
              </a:defRPr>
            </a:pPr>
            <a:r>
              <a:t>• 高权限Tool action前再做intent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对应候选方向 #6：Provenance–Role Mismatch Detector。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12个原始想法如何收敛：不再做12篇，而是围绕“Role→Authority→Propagation”组织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OUR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核心机制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68433"/>
                </a:solidFill>
                <a:latin typeface="Microsoft YaHei"/>
              </a:rPr>
              <a:t>#7 Role vs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攻击/压力测试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74519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#1 Deliberation Forgery</a:t>
            </a:r>
          </a:p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#2 Latent Role Optimization</a:t>
            </a:r>
          </a:p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#3 Non-instructional Role Induction</a:t>
            </a:r>
          </a:p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#5 Position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508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87451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#8 Multi-Agent</a:t>
            </a:r>
          </a:p>
          <a:p>
            <a:pPr>
              <a:spcAft>
                <a:spcPts val="5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#12 Tool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08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检测/防御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874519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#6 Provenance–Role Conflict</a:t>
            </a:r>
          </a:p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#9 Dynamic Isolation</a:t>
            </a:r>
          </a:p>
          <a:p>
            <a:pPr>
              <a:spcAft>
                <a:spcPts val="500"/>
              </a:spcAft>
              <a:defRPr sz="1200" b="0">
                <a:solidFill>
                  <a:srgbClr val="262C34"/>
                </a:solidFill>
                <a:latin typeface="Microsoft YaHei"/>
              </a:defRPr>
            </a:pPr>
            <a:r>
              <a:t>#10 Role-Gated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1508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73B"/>
                </a:solidFill>
                <a:latin typeface="Microsoft YaHei"/>
              </a:rPr>
              <a:t>取证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874519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2C34"/>
                </a:solidFill>
                <a:latin typeface="Microsoft YaHei"/>
              </a:defRPr>
            </a:pPr>
            <a:r>
              <a:t>#11 Causal Localization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14600" y="2560320"/>
            <a:ext cx="27432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2560320"/>
            <a:ext cx="18288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26679" y="2560320"/>
            <a:ext cx="228600" cy="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61320" y="3063240"/>
            <a:ext cx="0" cy="868680"/>
          </a:xfrm>
          <a:prstGeom prst="line">
            <a:avLst/>
          </a:prstGeom>
          <a:ln w="19050">
            <a:solidFill>
              <a:srgbClr val="E68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4160520"/>
            <a:ext cx="10195560" cy="1143000"/>
          </a:xfrm>
          <a:prstGeom prst="roundRect">
            <a:avLst/>
          </a:prstGeom>
          <a:solidFill>
            <a:srgbClr val="1A273B"/>
          </a:solidFill>
          <a:ln w="10160">
            <a:solidFill>
              <a:srgbClr val="1A2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9738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主论文候选主线：Source → Perceived Role → Authority → Cross-Agent / Tool Propagation →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下一步最合理的研究流程：先查重，再做最小实验，不急着堆系统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NEXT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325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538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0817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专项查重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9903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Role→Authority、cross-agent authority propagation是否已有同义工作。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438912" cy="438912"/>
          </a:xfrm>
          <a:prstGeom prst="ellipse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2257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最小行为实验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1343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同内容只改role/style/provenance，测权限选择与工具动作。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46120"/>
            <a:ext cx="438912" cy="438912"/>
          </a:xfrm>
          <a:prstGeom prst="ellipse">
            <a:avLst/>
          </a:prstGeom>
          <a:solidFill>
            <a:srgbClr val="248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826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3697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内部探针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2783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在开源模型上复用Role Probe，再训练Authority / Instruction-vs-Data probe。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60520"/>
            <a:ext cx="438912" cy="438912"/>
          </a:xfrm>
          <a:prstGeom prst="ellipse">
            <a:avLst/>
          </a:prstGeom>
          <a:solidFill>
            <a:srgbClr val="845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5137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跨Agent实验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14223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2–4 hop链路，测role signal是衰减、保持还是放大。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074920"/>
            <a:ext cx="438912" cy="438912"/>
          </a:xfrm>
          <a:prstGeom prst="ellipse">
            <a:avLst/>
          </a:prstGeom>
          <a:solidFill>
            <a:srgbClr val="45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114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06577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73B"/>
                </a:solidFill>
                <a:latin typeface="Microsoft YaHei"/>
              </a:rPr>
              <a:t>再决定论文形态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5663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B78"/>
                </a:solidFill>
                <a:latin typeface="Microsoft YaHei"/>
              </a:rPr>
              <a:t>机制论文 / 攻击论文 / 防御论文，不预先锁死。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BEE2"/>
                </a:solidFill>
                <a:latin typeface="Microsoft YaHei"/>
              </a:rPr>
              <a:t>汇报结论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Prompt Injection 的研究重心正在从
“怎样写一个更强payload”
转向
“来源、角色、权限、状态与执行边界为什么会失效”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754880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7DFEC"/>
                </a:solidFill>
                <a:latin typeface="Microsoft YaHei"/>
              </a:rPr>
              <a:t>Role Confusion 是这个转向里非常典型的一篇：它把攻击成功解释成可测量的内部角色错认。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623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6A654"/>
                </a:solidFill>
                <a:latin typeface="Microsoft YaHei"/>
              </a:rPr>
              <a:t>下一步：Role ≠ Authority？这种错误Authority能否跨Agent / Tool传播？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主要参考论文 / 资料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Ye, Cui, Hadfield-Menell. Prompt Injection as Role Confusion. ICML 2026.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Wang et al. The Landscape of Prompt Injection Threats in LLM Agents: From Taxonomy to Analysis. 2026 SoK.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Greshake et al. Not what you’ve signed up for: Compromising Real-World LLM-Integrated Applications with Indirect Prompt Injection. 2023.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Chen et al. AgentPoison: Red-teaming LLM Agents via Poisoning Memory or Knowledge Bases. NeurIPS 2024.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Shi et al. Prompt Injection Attack to Tool Selection in LLM Agents (ToolHijacker). NDSS 2026.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Chang et al. Overcoming the Retrieval Barrier: Indirect Prompt Injection in the Wild for LLM Systems. USENIX Security 2026.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Li et al. VIGIL: Defending LLM Agents Against Tool-Stream Injection via Verify-Before-Commit. ACL 2026.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Wang et al. AttnTrace: Contextual Attribution of Prompt Injection and Knowledge Corruption. IEEE S&amp;P 2026.</a:t>
            </a:r>
          </a:p>
          <a:p>
            <a:pPr>
              <a:spcAft>
                <a:spcPts val="800"/>
              </a:spcAft>
              <a:defRPr sz="1300" b="0">
                <a:solidFill>
                  <a:srgbClr val="262C34"/>
                </a:solidFill>
                <a:latin typeface="Microsoft YaHei"/>
              </a:defRPr>
            </a:pPr>
            <a:r>
              <a:t>OWASP GenAI Security Project. LLM01:2025 Prompt Injection.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85800"/>
            <a:ext cx="1600200" cy="347472"/>
          </a:xfrm>
          <a:prstGeom prst="round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22376"/>
            <a:ext cx="1600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论文附录图：全部原始图页备查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AE1EC"/>
                </a:solidFill>
                <a:latin typeface="Microsoft YaHei"/>
              </a:rPr>
              <a:t>下面保留用户上传PDF中Figure 12–32所在页的真实截图，组会上如果老师追问probe层选择、额外可视化、agent注入细节、position实验等，可直接翻到这里。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p.15 &amp; p.16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Confusion》PDF，第15、16页。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p.17 &amp; p.18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Confusion》PDF，第17、18页。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p.19 &amp; p.20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Confusion》PDF，第19、20页。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p.21 &amp; p.22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Confusion》PDF，第21、22页。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p.25 &amp; p.27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Confusion》PDF，第25、27页。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p.28 &amp; p.29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Confusion》PDF，第28、29页。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p.30 &amp; p.31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66360" cy="4937760"/>
          </a:xfrm>
          <a:prstGeom prst="rect">
            <a:avLst/>
          </a:prstGeom>
        </p:spPr>
      </p:pic>
      <p:pic>
        <p:nvPicPr>
          <p:cNvPr id="6" name="Picture 5" descr="p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16636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Confusion》PDF，第30、31页。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273B"/>
                </a:solidFill>
                <a:latin typeface="Microsoft YaHei"/>
              </a:rPr>
              <a:t>论文附录真实截图｜PDF p.32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280160"/>
            <a:ext cx="777240" cy="45720"/>
          </a:xfrm>
          <a:prstGeom prst="rect">
            <a:avLst/>
          </a:prstGeom>
          <a:solidFill>
            <a:srgbClr val="E68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9319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25CA1"/>
                </a:solidFill>
                <a:latin typeface="Microsoft YaHei"/>
              </a:rPr>
              <a:t>BACKUP</a:t>
            </a:r>
          </a:p>
        </p:txBody>
      </p:sp>
      <p:pic>
        <p:nvPicPr>
          <p:cNvPr id="5" name="Picture 4" descr="page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25880"/>
            <a:ext cx="548640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52881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06B78"/>
                </a:solidFill>
                <a:latin typeface="Microsoft YaHei"/>
              </a:rPr>
              <a:t>真实截图：用户上传《Prompt Injection as Role Confusion》PDF，第32页。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06B78"/>
                </a:solidFill>
                <a:latin typeface="Microsoft YaHei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