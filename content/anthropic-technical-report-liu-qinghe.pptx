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  <p:sldMasterId id="2147483662" r:id="rId4"/>
    <p:sldMasterId id="2147483664" r:id="rId5"/>
    <p:sldMasterId id="2147483666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  <p:sldMasterId id="2147483680" r:id="rId13"/>
    <p:sldMasterId id="2147483682" r:id="rId14"/>
    <p:sldMasterId id="2147483684" r:id="rId15"/>
    <p:sldMasterId id="2147483686" r:id="rId16"/>
    <p:sldMasterId id="2147483688" r:id="rId17"/>
    <p:sldMasterId id="2147483690" r:id="rId18"/>
    <p:sldMasterId id="2147483702" r:id="rId19"/>
    <p:sldMasterId id="2147483714" r:id="rId20"/>
    <p:sldMasterId id="2147483716" r:id="rId21"/>
    <p:sldMasterId id="2147483718" r:id="rId22"/>
    <p:sldMasterId id="2147483720" r:id="rId23"/>
  </p:sldMasterIdLst>
  <p:notesMasterIdLst>
    <p:notesMasterId r:id="rId25"/>
  </p:notesMasterIdLst>
  <p:sldIdLst>
    <p:sldId id="256" r:id="rId24"/>
    <p:sldId id="289" r:id="rId26"/>
    <p:sldId id="258" r:id="rId27"/>
    <p:sldId id="259" r:id="rId28"/>
    <p:sldId id="272" r:id="rId29"/>
    <p:sldId id="260" r:id="rId30"/>
    <p:sldId id="271" r:id="rId31"/>
    <p:sldId id="262" r:id="rId32"/>
    <p:sldId id="267" r:id="rId33"/>
    <p:sldId id="268" r:id="rId34"/>
    <p:sldId id="269" r:id="rId35"/>
    <p:sldId id="263" r:id="rId36"/>
    <p:sldId id="275" r:id="rId37"/>
    <p:sldId id="290" r:id="rId38"/>
    <p:sldId id="282" r:id="rId39"/>
    <p:sldId id="276" r:id="rId40"/>
    <p:sldId id="277" r:id="rId41"/>
    <p:sldId id="279" r:id="rId42"/>
    <p:sldId id="283" r:id="rId43"/>
    <p:sldId id="284" r:id="rId44"/>
    <p:sldId id="291" r:id="rId45"/>
    <p:sldId id="292" r:id="rId46"/>
    <p:sldId id="293" r:id="rId47"/>
    <p:sldId id="294" r:id="rId48"/>
    <p:sldId id="274" r:id="rId49"/>
    <p:sldId id="285" r:id="rId50"/>
    <p:sldId id="287" r:id="rId51"/>
    <p:sldId id="265" r:id="rId5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6" userDrawn="1">
          <p15:clr>
            <a:srgbClr val="747775"/>
          </p15:clr>
        </p15:guide>
        <p15:guide id="2" pos="290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6"/>
        <p:guide pos="290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5" Type="http://schemas.openxmlformats.org/officeDocument/2006/relationships/tableStyles" Target="tableStyles.xml"/><Relationship Id="rId54" Type="http://schemas.openxmlformats.org/officeDocument/2006/relationships/viewProps" Target="viewProps.xml"/><Relationship Id="rId53" Type="http://schemas.openxmlformats.org/officeDocument/2006/relationships/presProps" Target="presProps.xml"/><Relationship Id="rId52" Type="http://schemas.openxmlformats.org/officeDocument/2006/relationships/slide" Target="slides/slide28.xml"/><Relationship Id="rId51" Type="http://schemas.openxmlformats.org/officeDocument/2006/relationships/slide" Target="slides/slide27.xml"/><Relationship Id="rId50" Type="http://schemas.openxmlformats.org/officeDocument/2006/relationships/slide" Target="slides/slide26.xml"/><Relationship Id="rId5" Type="http://schemas.openxmlformats.org/officeDocument/2006/relationships/slideMaster" Target="slideMasters/slideMaster4.xml"/><Relationship Id="rId49" Type="http://schemas.openxmlformats.org/officeDocument/2006/relationships/slide" Target="slides/slide25.xml"/><Relationship Id="rId48" Type="http://schemas.openxmlformats.org/officeDocument/2006/relationships/slide" Target="slides/slide24.xml"/><Relationship Id="rId47" Type="http://schemas.openxmlformats.org/officeDocument/2006/relationships/slide" Target="slides/slide23.xml"/><Relationship Id="rId46" Type="http://schemas.openxmlformats.org/officeDocument/2006/relationships/slide" Target="slides/slide22.xml"/><Relationship Id="rId45" Type="http://schemas.openxmlformats.org/officeDocument/2006/relationships/slide" Target="slides/slide21.xml"/><Relationship Id="rId44" Type="http://schemas.openxmlformats.org/officeDocument/2006/relationships/slide" Target="slides/slide20.xml"/><Relationship Id="rId43" Type="http://schemas.openxmlformats.org/officeDocument/2006/relationships/slide" Target="slides/slide19.xml"/><Relationship Id="rId42" Type="http://schemas.openxmlformats.org/officeDocument/2006/relationships/slide" Target="slides/slide18.xml"/><Relationship Id="rId41" Type="http://schemas.openxmlformats.org/officeDocument/2006/relationships/slide" Target="slides/slide17.xml"/><Relationship Id="rId40" Type="http://schemas.openxmlformats.org/officeDocument/2006/relationships/slide" Target="slides/slide1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15.xml"/><Relationship Id="rId38" Type="http://schemas.openxmlformats.org/officeDocument/2006/relationships/slide" Target="slides/slide14.xml"/><Relationship Id="rId37" Type="http://schemas.openxmlformats.org/officeDocument/2006/relationships/slide" Target="slides/slide13.xml"/><Relationship Id="rId36" Type="http://schemas.openxmlformats.org/officeDocument/2006/relationships/slide" Target="slides/slide12.xml"/><Relationship Id="rId35" Type="http://schemas.openxmlformats.org/officeDocument/2006/relationships/slide" Target="slides/slide11.xml"/><Relationship Id="rId34" Type="http://schemas.openxmlformats.org/officeDocument/2006/relationships/slide" Target="slides/slide10.xml"/><Relationship Id="rId33" Type="http://schemas.openxmlformats.org/officeDocument/2006/relationships/slide" Target="slides/slide9.xml"/><Relationship Id="rId32" Type="http://schemas.openxmlformats.org/officeDocument/2006/relationships/slide" Target="slides/slide8.xml"/><Relationship Id="rId31" Type="http://schemas.openxmlformats.org/officeDocument/2006/relationships/slide" Target="slides/slide7.xml"/><Relationship Id="rId30" Type="http://schemas.openxmlformats.org/officeDocument/2006/relationships/slide" Target="slides/slide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5.xml"/><Relationship Id="rId28" Type="http://schemas.openxmlformats.org/officeDocument/2006/relationships/slide" Target="slides/slide4.xml"/><Relationship Id="rId27" Type="http://schemas.openxmlformats.org/officeDocument/2006/relationships/slide" Target="slides/slide3.xml"/><Relationship Id="rId26" Type="http://schemas.openxmlformats.org/officeDocument/2006/relationships/slide" Target="slides/slide2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1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，我们来看一个核心问题：Agent如何才能可靠地连接到真实世界？有句话说得好，Agent的价值取决于它能连接到哪些系统。目前，当Agent需要访问企业内部系统时，我们面临的瓶颈不再是模型能力，而是连接的可靠性。现有的直接API调用和CLI方式都存在明显的局限性，比如集成成本高、环境受限等。为此，MCP应运而生，它旨在提供一个标准化的、可复用的连接层，解决这些痛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MCP的本质是什么？它是Agent的外部世界接口层。我们可以把它理解为一个架构，包含宿主应用、MCP客户端和MCP服务器。其中，MCP服务器是核心，它负责将外部系统的能力，适配成AI能够理解和调用的标准接口。这与传统API有本质区别，API面向程序员，而MCP Server面向Agent，需要清晰地表达语义。在Agent的能力公式中，MCP主要解决了工具访问、上下文效率和安全认证这几个关键环节。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MCP的本质是什么？它是Agent的外部世界接口层。我们可以把它理解为一个架构，包含宿主应用、MCP客户端和MCP服务器。其中，MCP服务器是核心，它负责将外部系统的能力，适配成AI能够理解和调用的标准接口。这与传统API有本质区别，API面向程序员，而MCP Server面向Agent，需要清晰地表达语义。在Agent的能力公式中，MCP主要解决了工具访问、上下文效率和安全认证这几个关键环节。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MCP的发展非常迅速。从2024年底作为开放标准被提出，到2026年初，它已经升级为生产级的Agent基础设施。这背后是惊人的生态增长：MCP SDK的月下载量超过3亿，Claude每天有数百万人在使用它。MCP的生态意义在于，它创造了一个复利增长层。Agent平台和工具提供方可以解耦，各自专注于自己的领域，从而实现整个生态的价值倍增。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要构建生产级的MCP Server，需要遵循一些关键的设计原则。首先，应优先构建远程服务器以实现跨平台复用。其次，工具的组织应基于用户意图，而不是简单地映射API。对于拥有大量API的服务，可以采用代码编排模式，让Agent通过搜索和执行来高效利用。此外，工具应该能返回丰富的语义，如图表和交互界面。最后，标准化的认证和权限管理是面向生产系统的核心要求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CP在解决连接问题的同时，也带来了新的挑战，那就是“工具空间爆炸”。当可用工具数量激增，Agent如何高效地选择和调用工具成为新的瓶颈。对此，Anthropic提出了三种解决方案：首先是工具搜索，像RAG一样检索工具，能大幅节省上下文；其次是程序化工具调用，通过编写代码来编排调用，避免中间结果污染上下文；最后是提供工具使用示例，这能显著提高复杂参数处理的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CP在解决连接问题的同时，也带来了新的挑战，那就是“工具空间爆炸”。当可用工具数量激增，Agent如何高效地选择和调用工具成为新的瓶颈。对此，Anthropic提出了三种解决方案：首先是工具搜索，像RAG一样检索工具，能大幅节省上下文；其次是程序化工具调用，通过编写代码来编排调用，避免中间结果污染上下文；最后是提供工具使用示例，这能显著提高复杂参数处理的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CP在解决连接问题的同时，也带来了新的挑战，那就是“工具空间爆炸”。当可用工具数量激增，Agent如何高效地选择和调用工具成为新的瓶颈。对此，Anthropic提出了三种解决方案：首先是工具搜索，像RAG一样检索工具，能大幅节省上下文；其次是程序化工具调用，通过编写代码来编排调用，避免中间结果污染上下文；最后是提供工具使用示例，这能显著提高复杂参数处理的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MCP在解决连接问题的同时，也带来了新的挑战，那就是“工具空间爆炸”。当可用工具数量激增，Agent如何高效地选择和调用工具成为新的瓶颈。对此，Anthropic提出了三种解决方案：首先是工具搜索，像RAG一样检索工具，能大幅节省上下文；其次是程序化工具调用，通过编写代码来编排调用，避免中间结果污染上下文；最后是提供工具使用示例，这能显著提高复杂参数处理的准确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FBA69-B7CC-4FB5-995C-F38E4AC542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接下来我们谈谈MCP和Skills的关系。它们是互补而非替代的。可以把MCP看作是Agent的“手”，提供了操作外部世界的能力；而Skills则是“操作手册”或“大脑”，提供了完成任务的知识。一个典型的例子是Claude Cowork的Data Plugin，它就是由多个Skills和MCP Server协同工作的。展望未来，Agent的技术栈将是模型、MCP、Skills、评估和运行时的结合体，各自解决不同层面的问题。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我的汇报到此结束，感谢大家的聆听。现在是问答环节，欢迎大家提问交流。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7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1.jpeg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7.xml"/></Relationships>
</file>

<file path=ppt/slideLayouts/_rels/slideLayout29.xml.rels><?xml version="1.0" encoding="UTF-8" standalone="yes"?>
<Relationships xmlns="http://schemas.openxmlformats.org/package/2006/relationships"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image" Target="../media/image1.jpeg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17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5.xml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tags" Target="../tags/tag22.xml"/><Relationship Id="rId3" Type="http://schemas.openxmlformats.org/officeDocument/2006/relationships/image" Target="../media/image1.jpeg"/><Relationship Id="rId2" Type="http://schemas.openxmlformats.org/officeDocument/2006/relationships/tags" Target="../tags/tag21.xml"/><Relationship Id="rId12" Type="http://schemas.openxmlformats.org/officeDocument/2006/relationships/tags" Target="../tags/tag28.xml"/><Relationship Id="rId11" Type="http://schemas.openxmlformats.org/officeDocument/2006/relationships/tags" Target="../tags/tag27.xml"/><Relationship Id="rId10" Type="http://schemas.openxmlformats.org/officeDocument/2006/relationships/tags" Target="../tags/tag26.xml"/><Relationship Id="rId1" Type="http://schemas.openxmlformats.org/officeDocument/2006/relationships/slideMaster" Target="../slideMasters/slideMaster17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image" Target="../media/image1.jpeg"/><Relationship Id="rId2" Type="http://schemas.openxmlformats.org/officeDocument/2006/relationships/tags" Target="../tags/tag29.xml"/><Relationship Id="rId10" Type="http://schemas.openxmlformats.org/officeDocument/2006/relationships/tags" Target="../tags/tag36.xml"/><Relationship Id="rId1" Type="http://schemas.openxmlformats.org/officeDocument/2006/relationships/slideMaster" Target="../slideMasters/slideMaster17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1.jpeg"/><Relationship Id="rId2" Type="http://schemas.openxmlformats.org/officeDocument/2006/relationships/tags" Target="../tags/tag37.xml"/><Relationship Id="rId12" Type="http://schemas.openxmlformats.org/officeDocument/2006/relationships/tags" Target="../tags/tag46.xml"/><Relationship Id="rId11" Type="http://schemas.openxmlformats.org/officeDocument/2006/relationships/tags" Target="../tags/tag45.xml"/><Relationship Id="rId10" Type="http://schemas.openxmlformats.org/officeDocument/2006/relationships/tags" Target="../tags/tag44.xml"/><Relationship Id="rId1" Type="http://schemas.openxmlformats.org/officeDocument/2006/relationships/slideMaster" Target="../slideMasters/slideMaster17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image" Target="../media/image1.jpeg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7.xml"/></Relationships>
</file>

<file path=ppt/slideLayouts/_rels/slideLayout34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image" Target="../media/image1.jpeg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7.xml"/></Relationships>
</file>

<file path=ppt/slideLayouts/_rels/slideLayout35.xml.rels><?xml version="1.0" encoding="UTF-8" standalone="yes"?>
<Relationships xmlns="http://schemas.openxmlformats.org/package/2006/relationships"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image" Target="../media/image1.jpeg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17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1.jpeg"/><Relationship Id="rId2" Type="http://schemas.openxmlformats.org/officeDocument/2006/relationships/tags" Target="../tags/tag62.xml"/><Relationship Id="rId1" Type="http://schemas.openxmlformats.org/officeDocument/2006/relationships/slideMaster" Target="../slideMasters/slideMaster17.xml"/></Relationships>
</file>

<file path=ppt/slideLayouts/_rels/slideLayout37.xml.rels><?xml version="1.0" encoding="UTF-8" standalone="yes"?>
<Relationships xmlns="http://schemas.openxmlformats.org/package/2006/relationships"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image" Target="../media/image1.jpeg"/><Relationship Id="rId2" Type="http://schemas.openxmlformats.org/officeDocument/2006/relationships/tags" Target="../tags/tag69.xml"/><Relationship Id="rId1" Type="http://schemas.openxmlformats.org/officeDocument/2006/relationships/slideMaster" Target="../slideMasters/slideMaster17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image" Target="../media/image1.jpeg"/><Relationship Id="rId2" Type="http://schemas.openxmlformats.org/officeDocument/2006/relationships/tags" Target="../tags/tag83.xml"/><Relationship Id="rId1" Type="http://schemas.openxmlformats.org/officeDocument/2006/relationships/slideMaster" Target="../slideMasters/slideMaster18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image" Target="../media/image1.jpeg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8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102.xml"/><Relationship Id="rId7" Type="http://schemas.openxmlformats.org/officeDocument/2006/relationships/tags" Target="../tags/tag101.xml"/><Relationship Id="rId6" Type="http://schemas.openxmlformats.org/officeDocument/2006/relationships/tags" Target="../tags/tag100.xml"/><Relationship Id="rId5" Type="http://schemas.openxmlformats.org/officeDocument/2006/relationships/tags" Target="../tags/tag99.xml"/><Relationship Id="rId4" Type="http://schemas.openxmlformats.org/officeDocument/2006/relationships/tags" Target="../tags/tag98.xml"/><Relationship Id="rId3" Type="http://schemas.openxmlformats.org/officeDocument/2006/relationships/image" Target="../media/image1.jpeg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18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107.xml"/><Relationship Id="rId8" Type="http://schemas.openxmlformats.org/officeDocument/2006/relationships/tags" Target="../tags/tag106.xml"/><Relationship Id="rId7" Type="http://schemas.openxmlformats.org/officeDocument/2006/relationships/tags" Target="../tags/tag105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tags" Target="../tags/tag104.xml"/><Relationship Id="rId3" Type="http://schemas.openxmlformats.org/officeDocument/2006/relationships/image" Target="../media/image1.jpeg"/><Relationship Id="rId2" Type="http://schemas.openxmlformats.org/officeDocument/2006/relationships/tags" Target="../tags/tag103.xml"/><Relationship Id="rId12" Type="http://schemas.openxmlformats.org/officeDocument/2006/relationships/tags" Target="../tags/tag110.xml"/><Relationship Id="rId11" Type="http://schemas.openxmlformats.org/officeDocument/2006/relationships/tags" Target="../tags/tag109.xml"/><Relationship Id="rId10" Type="http://schemas.openxmlformats.org/officeDocument/2006/relationships/tags" Target="../tags/tag108.xml"/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1.jpeg"/><Relationship Id="rId2" Type="http://schemas.openxmlformats.org/officeDocument/2006/relationships/tags" Target="../tags/tag111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8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image" Target="../media/image1.jpeg"/><Relationship Id="rId2" Type="http://schemas.openxmlformats.org/officeDocument/2006/relationships/tags" Target="../tags/tag11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slideMaster" Target="../slideMasters/slideMaster18.xml"/></Relationships>
</file>

<file path=ppt/slideLayouts/_rels/slideLayout44.xml.rels><?xml version="1.0" encoding="UTF-8" standalone="yes"?>
<Relationships xmlns="http://schemas.openxmlformats.org/package/2006/relationships"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image" Target="../media/image1.jpeg"/><Relationship Id="rId2" Type="http://schemas.openxmlformats.org/officeDocument/2006/relationships/tags" Target="../tags/tag129.xml"/><Relationship Id="rId1" Type="http://schemas.openxmlformats.org/officeDocument/2006/relationships/slideMaster" Target="../slideMasters/slideMaster18.xml"/></Relationships>
</file>

<file path=ppt/slideLayouts/_rels/slideLayout45.xml.rels><?xml version="1.0" encoding="UTF-8" standalone="yes"?>
<Relationships xmlns="http://schemas.openxmlformats.org/package/2006/relationships"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" Type="http://schemas.openxmlformats.org/officeDocument/2006/relationships/image" Target="../media/image1.jpeg"/><Relationship Id="rId2" Type="http://schemas.openxmlformats.org/officeDocument/2006/relationships/tags" Target="../tags/tag135.xml"/><Relationship Id="rId1" Type="http://schemas.openxmlformats.org/officeDocument/2006/relationships/slideMaster" Target="../slideMasters/slideMaster18.xml"/></Relationships>
</file>

<file path=ppt/slideLayouts/_rels/slideLayout46.xml.rels><?xml version="1.0" encoding="UTF-8" standalone="yes"?>
<Relationships xmlns="http://schemas.openxmlformats.org/package/2006/relationships"><Relationship Id="rId7" Type="http://schemas.openxmlformats.org/officeDocument/2006/relationships/tags" Target="../tags/tag143.xml"/><Relationship Id="rId6" Type="http://schemas.openxmlformats.org/officeDocument/2006/relationships/tags" Target="../tags/tag142.xml"/><Relationship Id="rId5" Type="http://schemas.openxmlformats.org/officeDocument/2006/relationships/tags" Target="../tags/tag141.xml"/><Relationship Id="rId4" Type="http://schemas.openxmlformats.org/officeDocument/2006/relationships/tags" Target="../tags/tag140.xml"/><Relationship Id="rId3" Type="http://schemas.openxmlformats.org/officeDocument/2006/relationships/image" Target="../media/image1.jpeg"/><Relationship Id="rId2" Type="http://schemas.openxmlformats.org/officeDocument/2006/relationships/tags" Target="../tags/tag139.xml"/><Relationship Id="rId1" Type="http://schemas.openxmlformats.org/officeDocument/2006/relationships/slideMaster" Target="../slideMasters/slideMaster18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image" Target="../media/image1.jpeg"/><Relationship Id="rId2" Type="http://schemas.openxmlformats.org/officeDocument/2006/relationships/tags" Target="../tags/tag144.xml"/><Relationship Id="rId1" Type="http://schemas.openxmlformats.org/officeDocument/2006/relationships/slideMaster" Target="../slideMasters/slideMaster18.xml"/></Relationships>
</file>

<file path=ppt/slideLayouts/_rels/slideLayout48.xml.rels><?xml version="1.0" encoding="UTF-8" standalone="yes"?>
<Relationships xmlns="http://schemas.openxmlformats.org/package/2006/relationships"><Relationship Id="rId8" Type="http://schemas.openxmlformats.org/officeDocument/2006/relationships/tags" Target="../tags/tag156.xml"/><Relationship Id="rId7" Type="http://schemas.openxmlformats.org/officeDocument/2006/relationships/tags" Target="../tags/tag155.xml"/><Relationship Id="rId6" Type="http://schemas.openxmlformats.org/officeDocument/2006/relationships/tags" Target="../tags/tag154.xml"/><Relationship Id="rId5" Type="http://schemas.openxmlformats.org/officeDocument/2006/relationships/tags" Target="../tags/tag153.xml"/><Relationship Id="rId4" Type="http://schemas.openxmlformats.org/officeDocument/2006/relationships/tags" Target="../tags/tag152.xml"/><Relationship Id="rId3" Type="http://schemas.openxmlformats.org/officeDocument/2006/relationships/image" Target="../media/image1.jpeg"/><Relationship Id="rId2" Type="http://schemas.openxmlformats.org/officeDocument/2006/relationships/tags" Target="../tags/tag151.xml"/><Relationship Id="rId1" Type="http://schemas.openxmlformats.org/officeDocument/2006/relationships/slideMaster" Target="../slideMasters/slideMaster18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署名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5"/>
            </p:custDataLst>
          </p:nvPr>
        </p:nvSpPr>
        <p:spPr>
          <a:xfrm>
            <a:off x="904875" y="2458720"/>
            <a:ext cx="7571105" cy="118999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正文"/>
          <p:cNvSpPr txBox="1">
            <a:spLocks noGrp="1"/>
          </p:cNvSpPr>
          <p:nvPr>
            <p:ph type="body" idx="1" hasCustomPrompt="1"/>
            <p:custDataLst>
              <p:tags r:id="rId6"/>
            </p:custDataLst>
          </p:nvPr>
        </p:nvSpPr>
        <p:spPr>
          <a:xfrm>
            <a:off x="904875" y="1689735"/>
            <a:ext cx="7571105" cy="638175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24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A-图片 4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9" name="PA-正文"/>
          <p:cNvSpPr txBox="1">
            <a:spLocks noGrp="1"/>
          </p:cNvSpPr>
          <p:nvPr>
            <p:ph idx="3"/>
            <p:custDataLst>
              <p:tags r:id="rId4"/>
            </p:custDataLst>
          </p:nvPr>
        </p:nvSpPr>
        <p:spPr>
          <a:xfrm>
            <a:off x="695325" y="1245235"/>
            <a:ext cx="10800715" cy="493077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MiSans Heavy" panose="00000A00000000000000" charset="-122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>
              <a:spcBef>
                <a:spcPts val="1200"/>
              </a:spcBef>
              <a:spcAft>
                <a:spcPts val="0"/>
              </a:spcAft>
            </a:pPr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>
              <a:spcBef>
                <a:spcPts val="1200"/>
              </a:spcBef>
              <a:spcAft>
                <a:spcPts val="0"/>
              </a:spcAft>
            </a:pPr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PA-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lt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7" name="PA-矩形 1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099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2" hasCustomPrompt="1"/>
            <p:custDataLst>
              <p:tags r:id="rId4"/>
            </p:custDataLst>
          </p:nvPr>
        </p:nvSpPr>
        <p:spPr>
          <a:xfrm>
            <a:off x="798830" y="523875"/>
            <a:ext cx="1866265" cy="342900"/>
          </a:xfrm>
          <a:prstGeom prst="rect">
            <a:avLst/>
          </a:prstGeom>
          <a:noFill/>
        </p:spPr>
        <p:txBody>
          <a:bodyPr vert="horz" wrap="square" lIns="107950" tIns="0" rIns="9144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18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单击编辑副标题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1" hasCustomPrompt="1"/>
            <p:custDataLst>
              <p:tags r:id="rId5"/>
            </p:custDataLst>
          </p:nvPr>
        </p:nvSpPr>
        <p:spPr>
          <a:xfrm>
            <a:off x="798830" y="866775"/>
            <a:ext cx="1866265" cy="1059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263DB197-84B0-484E-9C0F-88358ECCB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077DA78-E013-4A8C-AD75-63A150561B1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3" name="图形 5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308915" y="6143342"/>
            <a:ext cx="187891" cy="187891"/>
          </a:xfrm>
          <a:prstGeom prst="rect">
            <a:avLst/>
          </a:prstGeom>
        </p:spPr>
      </p:pic>
      <p:cxnSp>
        <p:nvCxnSpPr>
          <p:cNvPr id="9" name="直接连接符 8"/>
          <p:cNvCxnSpPr/>
          <p:nvPr>
            <p:custDataLst>
              <p:tags r:id="rId7"/>
            </p:custDataLst>
          </p:nvPr>
        </p:nvCxnSpPr>
        <p:spPr>
          <a:xfrm>
            <a:off x="857760" y="4520059"/>
            <a:ext cx="57690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节编号"/>
          <p:cNvSpPr txBox="1">
            <a:spLocks noGrp="1"/>
          </p:cNvSpPr>
          <p:nvPr>
            <p:ph type="body" idx="2" hasCustomPrompt="1"/>
            <p:custDataLst>
              <p:tags r:id="rId8"/>
            </p:custDataLst>
          </p:nvPr>
        </p:nvSpPr>
        <p:spPr>
          <a:xfrm>
            <a:off x="857885" y="1802130"/>
            <a:ext cx="6318885" cy="521970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altLang="zh-CN" sz="32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 err="1">
                <a:sym typeface="+mn-ea"/>
              </a:rPr>
              <a:t>编辑节编号</a:t>
            </a:r>
            <a:endParaRPr dirty="0">
              <a:sym typeface="+mn-ea"/>
            </a:endParaRPr>
          </a:p>
        </p:txBody>
      </p:sp>
      <p:sp>
        <p:nvSpPr>
          <p:cNvPr id="7" name="标题"/>
          <p:cNvSpPr txBox="1">
            <a:spLocks noGrp="1"/>
          </p:cNvSpPr>
          <p:nvPr>
            <p:ph type="title" idx="1" hasCustomPrompt="1"/>
            <p:custDataLst>
              <p:tags r:id="rId9"/>
            </p:custDataLst>
          </p:nvPr>
        </p:nvSpPr>
        <p:spPr>
          <a:xfrm>
            <a:off x="857250" y="2505075"/>
            <a:ext cx="6318885" cy="1572895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标题和两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标题"/>
          <p:cNvSpPr txBox="1">
            <a:spLocks noGrp="1"/>
          </p:cNvSpPr>
          <p:nvPr>
            <p:ph type="title" idx="4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0" name="矩形 9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9" name="正文"/>
          <p:cNvSpPr txBox="1">
            <a:spLocks noGrp="1"/>
          </p:cNvSpPr>
          <p:nvPr>
            <p:ph idx="2"/>
            <p:custDataLst>
              <p:tags r:id="rId6"/>
            </p:custDataLst>
          </p:nvPr>
        </p:nvSpPr>
        <p:spPr>
          <a:xfrm>
            <a:off x="6400800" y="1244600"/>
            <a:ext cx="509524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8" name="正文"/>
          <p:cNvSpPr txBox="1"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695325" y="1244600"/>
            <a:ext cx="5090160" cy="4932045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87070" y="6356350"/>
            <a:ext cx="28943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标题和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标题"/>
          <p:cNvSpPr txBox="1">
            <a:spLocks noGrp="1"/>
          </p:cNvSpPr>
          <p:nvPr>
            <p:ph type="title" idx="6"/>
            <p:custDataLst>
              <p:tags r:id="rId4"/>
            </p:custDataLst>
          </p:nvPr>
        </p:nvSpPr>
        <p:spPr>
          <a:xfrm>
            <a:off x="6235065" y="1243330"/>
            <a:ext cx="5260975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4" name="标题"/>
          <p:cNvSpPr txBox="1">
            <a:spLocks noGrp="1"/>
          </p:cNvSpPr>
          <p:nvPr>
            <p:ph type="title" idx="5"/>
            <p:custDataLst>
              <p:tags r:id="rId5"/>
            </p:custDataLst>
          </p:nvPr>
        </p:nvSpPr>
        <p:spPr>
          <a:xfrm>
            <a:off x="696595" y="1244600"/>
            <a:ext cx="5253990" cy="47498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0" normalizeH="0" baseline="0" noProof="1" dirty="0">
                <a:solidFill>
                  <a:schemeClr val="tx1"/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4"/>
            <p:custDataLst>
              <p:tags r:id="rId6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12" name="矩形 11"/>
          <p:cNvSpPr/>
          <p:nvPr userDrawn="1">
            <p:custDataLst>
              <p:tags r:id="rId7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11" name="正文"/>
          <p:cNvSpPr txBox="1">
            <a:spLocks noGrp="1"/>
          </p:cNvSpPr>
          <p:nvPr>
            <p:ph idx="2"/>
            <p:custDataLst>
              <p:tags r:id="rId8"/>
            </p:custDataLst>
          </p:nvPr>
        </p:nvSpPr>
        <p:spPr>
          <a:xfrm>
            <a:off x="6235065" y="1719580"/>
            <a:ext cx="5260975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0" name="正文"/>
          <p:cNvSpPr txBox="1"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696595" y="1719580"/>
            <a:ext cx="5253990" cy="445643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86435" y="6356350"/>
            <a:ext cx="28949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4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699135" y="6356350"/>
            <a:ext cx="2882265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正文"/>
          <p:cNvSpPr txBox="1">
            <a:spLocks noGrp="1"/>
          </p:cNvSpPr>
          <p:nvPr>
            <p:ph idx="1"/>
            <p:custDataLst>
              <p:tags r:id="rId4"/>
            </p:custDataLst>
          </p:nvPr>
        </p:nvSpPr>
        <p:spPr>
          <a:xfrm>
            <a:off x="695960" y="360045"/>
            <a:ext cx="10801985" cy="5817870"/>
          </a:xfrm>
          <a:prstGeom prst="rect">
            <a:avLst/>
          </a:prstGeom>
          <a:ln>
            <a:noFill/>
            <a:prstDash val="sysDash"/>
          </a:ln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2pPr>
            <a:lvl3pPr marL="1143000" marR="0" lvl="2" indent="-228600" fontAlgn="auto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sz="16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3pPr>
            <a:lvl4pPr marL="1600200" marR="0" lvl="3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4pPr>
            <a:lvl5pPr marL="2057400" marR="0" lvl="4" indent="-228600" fontAlgn="auto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sz="1400" b="0" i="0" u="none" strike="noStrike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+mn-ea"/>
                <a:ea typeface="+mn-ea"/>
              </a:defRPr>
            </a:lvl5pPr>
            <a:lvl6pPr indent="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 err="1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 err="1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 err="1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 err="1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95960" y="6356350"/>
            <a:ext cx="288544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56350"/>
            <a:ext cx="288544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雪地上&#10;&#10;中度可信度描述已自动生成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7" name="副标题"/>
          <p:cNvSpPr txBox="1">
            <a:spLocks noGrp="1"/>
          </p:cNvSpPr>
          <p:nvPr>
            <p:ph type="body" idx="3" hasCustomPrompt="1"/>
            <p:custDataLst>
              <p:tags r:id="rId4"/>
            </p:custDataLst>
          </p:nvPr>
        </p:nvSpPr>
        <p:spPr>
          <a:xfrm>
            <a:off x="695960" y="1301750"/>
            <a:ext cx="10799088" cy="405553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rtlCol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2000" b="1" i="0" u="none" strike="noStrike" kern="1200" cap="none" spc="3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</a:defRPr>
            </a:lvl1pPr>
          </a:lstStyle>
          <a:p>
            <a:pPr lvl="0" algn="l"/>
            <a:r>
              <a:rPr dirty="0">
                <a:sym typeface="+mn-ea"/>
              </a:rPr>
              <a:t>单击此处编辑母版副标题样式</a:t>
            </a:r>
            <a:endParaRPr dirty="0">
              <a:sym typeface="+mn-ea"/>
            </a:endParaRPr>
          </a:p>
        </p:txBody>
      </p:sp>
      <p:sp>
        <p:nvSpPr>
          <p:cNvPr id="6" name="标题"/>
          <p:cNvSpPr txBox="1">
            <a:spLocks noGrp="1"/>
          </p:cNvSpPr>
          <p:nvPr>
            <p:ph type="title" idx="2"/>
            <p:custDataLst>
              <p:tags r:id="rId5"/>
            </p:custDataLst>
          </p:nvPr>
        </p:nvSpPr>
        <p:spPr>
          <a:xfrm>
            <a:off x="869315" y="523875"/>
            <a:ext cx="10626090" cy="583565"/>
          </a:xfrm>
          <a:prstGeom prst="rect">
            <a:avLst/>
          </a:prstGeom>
          <a:noFill/>
        </p:spPr>
        <p:txBody>
          <a:bodyPr vert="horz" wrap="square" tIns="0" bIns="0" rtlCol="0" anchor="b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32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+mn-cs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8" name="矩形 7"/>
          <p:cNvSpPr/>
          <p:nvPr userDrawn="1">
            <p:custDataLst>
              <p:tags r:id="rId6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99770" y="6356350"/>
            <a:ext cx="288163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886075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VCG41N1410470348" descr="雪地上&#10;&#10;中度可信度描述已自动生成"/>
          <p:cNvPicPr>
            <a:picLocks noChangeAspect="1"/>
          </p:cNvPicPr>
          <p:nvPr>
            <p:custDataLst>
              <p:tags r:id="rId2"/>
            </p:custDataLst>
          </p:nvPr>
        </p:nvPicPr>
        <p:blipFill rotWithShape="1">
          <a:blip r:embed="rId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25" r="8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标题"/>
          <p:cNvSpPr txBox="1">
            <a:spLocks noGrp="1"/>
          </p:cNvSpPr>
          <p:nvPr>
            <p:ph type="title" idx="2" hasCustomPrompt="1"/>
            <p:custDataLst>
              <p:tags r:id="rId4"/>
            </p:custDataLst>
          </p:nvPr>
        </p:nvSpPr>
        <p:spPr>
          <a:xfrm>
            <a:off x="904875" y="1714500"/>
            <a:ext cx="7571105" cy="193421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l">
              <a:buClrTx/>
              <a:buSzTx/>
              <a:buFontTx/>
            </a:pPr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7" name="署名"/>
          <p:cNvSpPr txBox="1">
            <a:spLocks noGrp="1"/>
          </p:cNvSpPr>
          <p:nvPr>
            <p:ph type="body" idx="1" hasCustomPrompt="1"/>
            <p:custDataLst>
              <p:tags r:id="rId5"/>
            </p:custDataLst>
          </p:nvPr>
        </p:nvSpPr>
        <p:spPr>
          <a:xfrm>
            <a:off x="904875" y="3999865"/>
            <a:ext cx="2019300" cy="48387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effectLst/>
        </p:spPr>
        <p:txBody>
          <a:bodyPr vert="horz" wrap="square" lIns="0" tIns="0" rIns="0" bIns="0" rtlCol="0" anchor="ctr" anchorCtr="0">
            <a:normAutofit/>
          </a:bodyPr>
          <a:lstStyle>
            <a:lvl1pPr marL="0" marR="0" lvl="0" algn="ctr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1400" b="1" i="0" u="none" strike="noStrike" kern="1200" cap="none" spc="0" normalizeH="0" baseline="0" noProof="1" dirty="0">
                <a:solidFill>
                  <a:srgbClr val="FFFFFF"/>
                </a:solidFill>
                <a:latin typeface="+mj-ea"/>
                <a:ea typeface="+mj-ea"/>
                <a:cs typeface="MiSans Heavy" panose="00000A00000000000000" charset="-122"/>
                <a:sym typeface="+mn-ea"/>
              </a:defRPr>
            </a:lvl1pPr>
          </a:lstStyle>
          <a:p>
            <a:pPr lvl="0" algn="ctr">
              <a:buClrTx/>
              <a:buSzTx/>
              <a:buFontTx/>
            </a:pPr>
            <a:r>
              <a:rPr dirty="0">
                <a:sym typeface="+mn-ea"/>
              </a:rPr>
              <a:t>单击此处编辑文本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7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8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9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0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21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2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23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4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5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6.xml"/></Relationships>
</file>

<file path=ppt/slideMasters/_rels/slideMaster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9.xml"/><Relationship Id="rId21" Type="http://schemas.openxmlformats.org/officeDocument/2006/relationships/theme" Target="../theme/theme17.xml"/><Relationship Id="rId20" Type="http://schemas.openxmlformats.org/officeDocument/2006/relationships/tags" Target="../tags/tag82.xml"/><Relationship Id="rId2" Type="http://schemas.openxmlformats.org/officeDocument/2006/relationships/slideLayout" Target="../slideLayouts/slideLayout28.xml"/><Relationship Id="rId19" Type="http://schemas.openxmlformats.org/officeDocument/2006/relationships/tags" Target="../tags/tag81.xml"/><Relationship Id="rId18" Type="http://schemas.openxmlformats.org/officeDocument/2006/relationships/tags" Target="../tags/tag80.xml"/><Relationship Id="rId17" Type="http://schemas.openxmlformats.org/officeDocument/2006/relationships/tags" Target="../tags/tag79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image" Target="../media/image1.jpeg"/><Relationship Id="rId12" Type="http://schemas.openxmlformats.org/officeDocument/2006/relationships/tags" Target="../tags/tag75.xml"/><Relationship Id="rId11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7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6.xml"/><Relationship Id="rId8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4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Relationship Id="rId3" Type="http://schemas.openxmlformats.org/officeDocument/2006/relationships/slideLayout" Target="../slideLayouts/slideLayout40.xml"/><Relationship Id="rId21" Type="http://schemas.openxmlformats.org/officeDocument/2006/relationships/theme" Target="../theme/theme18.xml"/><Relationship Id="rId20" Type="http://schemas.openxmlformats.org/officeDocument/2006/relationships/tags" Target="../tags/tag164.xml"/><Relationship Id="rId2" Type="http://schemas.openxmlformats.org/officeDocument/2006/relationships/slideLayout" Target="../slideLayouts/slideLayout39.xml"/><Relationship Id="rId19" Type="http://schemas.openxmlformats.org/officeDocument/2006/relationships/tags" Target="../tags/tag163.xml"/><Relationship Id="rId18" Type="http://schemas.openxmlformats.org/officeDocument/2006/relationships/tags" Target="../tags/tag162.xml"/><Relationship Id="rId17" Type="http://schemas.openxmlformats.org/officeDocument/2006/relationships/tags" Target="../tags/tag161.xml"/><Relationship Id="rId16" Type="http://schemas.openxmlformats.org/officeDocument/2006/relationships/tags" Target="../tags/tag160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image" Target="../media/image1.jpeg"/><Relationship Id="rId12" Type="http://schemas.openxmlformats.org/officeDocument/2006/relationships/tags" Target="../tags/tag157.xml"/><Relationship Id="rId11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47.xml"/><Relationship Id="rId1" Type="http://schemas.openxmlformats.org/officeDocument/2006/relationships/slideLayout" Target="../slideLayouts/slideLayout38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49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50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51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雪地上&#10;&#10;中度可信度描述已自动生成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 rotWithShape="1">
          <a:blip r:embed="rId13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52" t="17468" r="8387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8" name="矩形 7"/>
          <p:cNvSpPr/>
          <p:nvPr userDrawn="1">
            <p:custDataLst>
              <p:tags r:id="rId14"/>
            </p:custDataLst>
          </p:nvPr>
        </p:nvSpPr>
        <p:spPr>
          <a:xfrm>
            <a:off x="578485" y="599440"/>
            <a:ext cx="108000" cy="432000"/>
          </a:xfrm>
          <a:prstGeom prst="rect">
            <a:avLst/>
          </a:prstGeom>
          <a:solidFill>
            <a:schemeClr val="accent2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5"/>
            </p:custDataLst>
          </p:nvPr>
        </p:nvSpPr>
        <p:spPr>
          <a:xfrm>
            <a:off x="695960" y="6356350"/>
            <a:ext cx="2743200" cy="365125"/>
          </a:xfrm>
        </p:spPr>
        <p:txBody>
          <a:bodyPr/>
          <a:lstStyle/>
          <a:p>
            <a:fld id="{AC1B7B3F-A56B-4310-A966-BD55D80449F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7"/>
            </p:custDataLst>
          </p:nvPr>
        </p:nvSpPr>
        <p:spPr>
          <a:xfrm>
            <a:off x="8753983" y="6356350"/>
            <a:ext cx="2743200" cy="365125"/>
          </a:xfrm>
        </p:spPr>
        <p:txBody>
          <a:bodyPr/>
          <a:lstStyle/>
          <a:p>
            <a:fld id="{73127340-2293-49D2-96F1-6E7BF0C8FD9C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占位符 1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●"/>
            </a:pPr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  <a:noFill/>
        </p:spPr>
        <p:txBody>
          <a:bodyPr vert="horz" wrap="square" lIns="91440" tIns="0" rIns="91440" bIns="0" rtlCol="0" anchor="b" anchorCtr="0">
            <a:normAutofit/>
          </a:bodyPr>
          <a:lstStyle/>
          <a:p>
            <a:pPr marL="0" marR="0" lvl="0" fontAlgn="auto">
              <a:lnSpc>
                <a:spcPct val="100000"/>
              </a:lnSpc>
              <a:buClrTx/>
              <a:buSzTx/>
              <a:buFontTx/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bg1"/>
          </a:solidFill>
          <a:ln>
            <a:noFill/>
            <a:prstDash val="solid"/>
          </a:ln>
          <a:effectLst>
            <a:outerShdw blurRad="203200" dist="101600" dir="8100000" algn="tr" rotWithShape="0">
              <a:srgbClr val="FF5DA9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 defTabSz="914400">
              <a:spcBef>
                <a:spcPct val="0"/>
              </a:spcBef>
              <a:spcAft>
                <a:spcPct val="0"/>
              </a:spcAft>
            </a:pPr>
            <a:endParaRPr lang="zh-CN" altLang="en-US" sz="1800" kern="1200">
              <a:sym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0" lang="zh-CN" altLang="en-US" sz="3200" b="1" i="0" u="none" strike="noStrike" kern="1200" cap="none" spc="0" normalizeH="0" baseline="0" dirty="0" smtClean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0" lang="zh-CN" altLang="en-US" sz="1800" b="0" i="0" u="none" strike="noStrike" kern="1200" cap="none" spc="150" normalizeH="0" baseline="0" noProof="1" dirty="0" smtClean="0">
          <a:ln>
            <a:noFill/>
            <a:prstDash val="sysDot"/>
          </a:ln>
          <a:solidFill>
            <a:schemeClr val="tx1">
              <a:lumMod val="75000"/>
              <a:lumOff val="25000"/>
            </a:schemeClr>
          </a:solidFill>
          <a:uFillTx/>
          <a:latin typeface="+mn-ea"/>
          <a:ea typeface="+mn-ea"/>
          <a:cs typeface="+mn-cs"/>
          <a:sym typeface="+mn-ea"/>
        </a:defRPr>
      </a:lvl1pPr>
      <a:lvl2pPr marL="6858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2pPr>
      <a:lvl3pPr marL="11430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3pPr>
      <a:lvl4pPr marL="16002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 smtClean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4pPr>
      <a:lvl5pPr marL="2057400" marR="0" indent="-228600" algn="l" defTabSz="914400" rtl="0" eaLnBrk="1" fontAlgn="auto" latinLnBrk="0" hangingPunct="1">
        <a:lnSpc>
          <a:spcPct val="12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kumimoji="0" lang="zh-CN" altLang="en-US" sz="1600" b="0" i="0" u="none" strike="noStrike" kern="1200" cap="none" spc="150" normalizeH="0" baseline="0" dirty="0">
          <a:solidFill>
            <a:schemeClr val="tx1">
              <a:lumMod val="65000"/>
              <a:lumOff val="35000"/>
            </a:schemeClr>
          </a:solidFill>
          <a:uFillTx/>
          <a:latin typeface="+mn-ea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1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30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tags" Target="../tags/tag165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7.xml"/><Relationship Id="rId2" Type="http://schemas.openxmlformats.org/officeDocument/2006/relationships/image" Target="../media/image9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0.png"/><Relationship Id="rId1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tags" Target="../tags/tag168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3.png"/><Relationship Id="rId2" Type="http://schemas.openxmlformats.org/officeDocument/2006/relationships/tags" Target="../tags/tag169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4.xml"/><Relationship Id="rId2" Type="http://schemas.openxmlformats.org/officeDocument/2006/relationships/tags" Target="../tags/tag170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171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4.png"/><Relationship Id="rId1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41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tags" Target="../tags/tag17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0.xml"/><Relationship Id="rId1" Type="http://schemas.openxmlformats.org/officeDocument/2006/relationships/image" Target="../media/image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1.xml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49.xml"/><Relationship Id="rId2" Type="http://schemas.openxmlformats.org/officeDocument/2006/relationships/image" Target="../media/image15.png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2.xml"/><Relationship Id="rId4" Type="http://schemas.openxmlformats.org/officeDocument/2006/relationships/slideLayout" Target="../slideLayouts/slideLayout50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51.xml"/><Relationship Id="rId1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5.xml"/><Relationship Id="rId3" Type="http://schemas.openxmlformats.org/officeDocument/2006/relationships/slideLayout" Target="../slideLayouts/slideLayout18.xml"/><Relationship Id="rId2" Type="http://schemas.openxmlformats.org/officeDocument/2006/relationships/image" Target="../media/image18.png"/><Relationship Id="rId1" Type="http://schemas.openxmlformats.org/officeDocument/2006/relationships/image" Target="../media/image7.jpe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6.xml"/><Relationship Id="rId3" Type="http://schemas.openxmlformats.org/officeDocument/2006/relationships/slideLayout" Target="../slideLayouts/slideLayout25.xml"/><Relationship Id="rId2" Type="http://schemas.openxmlformats.org/officeDocument/2006/relationships/image" Target="../media/image19.png"/><Relationship Id="rId1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6.xml"/><Relationship Id="rId1" Type="http://schemas.openxmlformats.org/officeDocument/2006/relationships/image" Target="../media/image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8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84150" y="783590"/>
            <a:ext cx="5743575" cy="26936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4000" b="1" i="0" u="none" strike="noStrike">
              <a:solidFill>
                <a:schemeClr val="tx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016000" y="571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2026年3月</a:t>
            </a:r>
            <a:endParaRPr lang="en-US" sz="1100"/>
          </a:p>
        </p:txBody>
      </p:sp>
      <p:sp>
        <p:nvSpPr>
          <p:cNvPr id="24" name="文本框 23"/>
          <p:cNvSpPr txBox="1"/>
          <p:nvPr/>
        </p:nvSpPr>
        <p:spPr>
          <a:xfrm>
            <a:off x="0" y="1974850"/>
            <a:ext cx="6155055" cy="29089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/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Anthropic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实践：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连接外部世界的接口设计</a:t>
            </a:r>
            <a:endParaRPr lang="zh-CN" altLang="en-US" sz="4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1240" y="3157220"/>
            <a:ext cx="6095365" cy="36163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1240" y="60960"/>
            <a:ext cx="6080760" cy="3181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/>
          </a:bodyPr>
          <a:lstStyle/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Part One</a:t>
            </a:r>
            <a:endParaRPr lang="zh-CN" altLang="en-US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857250" y="2505075"/>
            <a:ext cx="9911715" cy="1399540"/>
          </a:xfrm>
        </p:spPr>
        <p:txBody>
          <a:bodyPr/>
          <a:lstStyle/>
          <a:p>
            <a:r>
              <a:rPr lang="en-US" altLang="zh-CN" sz="4000"/>
              <a:t>Building agents that reach production systems with MCP</a:t>
            </a:r>
            <a:endParaRPr lang="en-US" altLang="zh-CN" sz="4000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一、</a:t>
            </a: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连接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外部系统的方式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97865" y="1444625"/>
            <a:ext cx="10732135" cy="5088890"/>
          </a:xfrm>
          <a:prstGeom prst="roundRect">
            <a:avLst>
              <a:gd name="adj" fmla="val 307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15" y="1638935"/>
            <a:ext cx="9067800" cy="47002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9273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MCP的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44525" y="1016000"/>
            <a:ext cx="11035665" cy="5701665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文本框 19"/>
          <p:cNvSpPr txBox="1"/>
          <p:nvPr/>
        </p:nvSpPr>
        <p:spPr>
          <a:xfrm>
            <a:off x="890270" y="1089025"/>
            <a:ext cx="10443845" cy="46532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457200" indent="-457200" algn="l">
              <a:buSzTx/>
              <a:buFont typeface="Arial" panose="020B0604020202020204" pitchFamily="34" charset="0"/>
              <a:buChar char="•"/>
              <a:defRPr/>
            </a:pPr>
            <a:r>
              <a:rPr 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Host：宿主应用</a:t>
            </a:r>
            <a:endParaRPr lang="en-US" sz="2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真正运行 AI 交互的地方，</a:t>
            </a:r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发起连接的 LLM 应用，</a:t>
            </a:r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例如：Claude Desktop、Claude Code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、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VS Code</a:t>
            </a:r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负责用户界面、模型调用、会话管理和整体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orchestration</a:t>
            </a:r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buSzTx/>
              <a:buFont typeface="Arial" panose="020B0604020202020204" pitchFamily="34" charset="0"/>
              <a:buChar char="•"/>
              <a:defRPr/>
            </a:pPr>
            <a:r>
              <a:rPr 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Client：</a:t>
            </a:r>
            <a:r>
              <a:rPr lang="zh-CN" alt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客户端</a:t>
            </a:r>
            <a:endParaRPr lang="en-US" sz="2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  <a:buNone/>
            </a:pPr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应用内部的客户端组件，负责与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Server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通信。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  <a:buNone/>
            </a:pP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负责工具发现、资源读取、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prompt exchange、JSON-RPC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通信，以及上下文管理</a:t>
            </a:r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 algn="l">
              <a:buSzTx/>
              <a:buFont typeface="Arial" panose="020B0604020202020204" pitchFamily="34" charset="0"/>
              <a:buChar char="•"/>
              <a:defRPr/>
            </a:pPr>
            <a:r>
              <a:rPr lang="en-US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Server：服务器</a:t>
            </a:r>
            <a:endParaRPr lang="en-US" sz="2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  <a:buNone/>
            </a:pP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连接真实外部系统，把外部系统的能力包装成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可以理解和调用的工具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algn="l">
              <a:buSzTx/>
              <a:buNone/>
            </a:pPr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 官方文档把 Server 定义为“提供上下文和能力的服务”，并指出 server 可以提供 resources、prompts 和 tools。</a:t>
            </a:r>
            <a:endParaRPr 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9273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MCP的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通信流程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44525" y="1016000"/>
            <a:ext cx="11035665" cy="5701665"/>
          </a:xfrm>
          <a:prstGeom prst="roundRect">
            <a:avLst>
              <a:gd name="adj" fmla="val 11428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70" y="1016000"/>
            <a:ext cx="9751060" cy="57010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149350"/>
            <a:ext cx="10760710" cy="5073650"/>
          </a:xfrm>
          <a:prstGeom prst="roundRect">
            <a:avLst>
              <a:gd name="adj" fmla="val 46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3"/>
          <p:cNvSpPr/>
          <p:nvPr/>
        </p:nvSpPr>
        <p:spPr>
          <a:xfrm>
            <a:off x="762000" y="29273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MCP的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通信流程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675" y="1280160"/>
            <a:ext cx="8770620" cy="46913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22987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缺陷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127760"/>
            <a:ext cx="10886440" cy="5104765"/>
          </a:xfrm>
          <a:prstGeom prst="roundRect">
            <a:avLst>
              <a:gd name="adj" fmla="val 7058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184275" y="1382395"/>
            <a:ext cx="10041255" cy="475678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l"/>
              <a:defRPr/>
            </a:pPr>
            <a:r>
              <a:rPr lang="zh-CN" altLang="en-US" sz="2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工具定义膨胀</a:t>
            </a: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altLang="zh-CN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要求每个工具定义非常完整、自包含，导致单条定义更长。</a:t>
            </a:r>
            <a:endParaRPr lang="en-US" altLang="zh-CN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全量注入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：当前实践倾向于一次性加载所有工具的完整定义，导致总 </a:t>
            </a:r>
            <a:r>
              <a:rPr lang="en-US" altLang="zh-CN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tokens 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迅速膨胀。</a:t>
            </a: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l"/>
              <a:defRPr/>
            </a:pPr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上下文污染</a:t>
            </a:r>
            <a:endParaRPr lang="zh-CN" alt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algn="l">
              <a:lnSpc>
                <a:spcPct val="100000"/>
              </a:lnSpc>
              <a:buSzTx/>
              <a:buNone/>
              <a:defRPr/>
            </a:pP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由于MCP客户端通常将所有工具定义、资源描述、提示模板等一次性全量注入模型的上下文窗口，导致大量与当前用户任务无关的信息占据宝贵的上下文空间，不仅浪费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tokens（增加成本），还会干扰模型注意力。</a:t>
            </a:r>
            <a:endParaRPr lang="zh-CN" altLang="en-US" sz="16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endParaRPr lang="en-US" sz="16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342900" indent="-342900" algn="l">
              <a:lnSpc>
                <a:spcPct val="100000"/>
              </a:lnSpc>
              <a:buFont typeface="Wingdings" panose="05000000000000000000" charset="0"/>
              <a:buChar char="l"/>
              <a:defRPr/>
            </a:pPr>
            <a:r>
              <a:rPr lang="zh-CN" alt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工具选择问题：工具越多，模型越容易选错</a:t>
            </a:r>
            <a:endParaRPr lang="zh-CN" altLang="en-US" sz="20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00000"/>
              </a:lnSpc>
              <a:buFont typeface="Wingdings" panose="05000000000000000000" charset="0"/>
              <a:buNone/>
              <a:defRPr/>
            </a:pP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大量细粒度工具会把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Agent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的规划问题变成工具选择噪声。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标准化描述模板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：每个工具的描述格式相似，缺乏权重区分（例如“常用工具”没有被标记）</a:t>
            </a: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无工具优先级机制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：模型无法知道哪个工具更通用、哪个更专用，只能平等对待。</a:t>
            </a: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0000"/>
              </a:lnSpc>
              <a:defRPr/>
            </a:pPr>
            <a:r>
              <a:rPr lang="zh-CN" altLang="en-US" sz="18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全量工具注入</a:t>
            </a:r>
            <a:r>
              <a:rPr lang="zh-CN" alt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：模型被迫一次性看到所有工具，无法“先看摘要再选细节”</a:t>
            </a: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17000"/>
              </a:lnSpc>
              <a:spcBef>
                <a:spcPts val="800"/>
              </a:spcBef>
            </a:pPr>
            <a:endParaRPr lang="zh-CN" altLang="en-US" sz="18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41045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的解决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762619" y="1590040"/>
            <a:ext cx="10813431" cy="487743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文本框 19"/>
          <p:cNvSpPr txBox="1"/>
          <p:nvPr/>
        </p:nvSpPr>
        <p:spPr>
          <a:xfrm>
            <a:off x="1462405" y="1778000"/>
            <a:ext cx="4540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Search</a:t>
            </a:r>
            <a:endParaRPr lang="en-US" sz="20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1295" y="3445510"/>
            <a:ext cx="4520565" cy="2545080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471295" y="2293620"/>
            <a:ext cx="947420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不要把所有工具定义一次性塞进上下文，而是</a:t>
            </a:r>
            <a:r>
              <a:rPr lang="zh-CN" alt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暴露一个“搜索工具”的工具，</a:t>
            </a:r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让模型先搜索工具目录，再按需加载相关工具。</a:t>
            </a:r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测试数据：工具定义的 token 消耗减少了 85% 以上，工具选择的准确率没有下降。</a:t>
            </a:r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860" y="3417570"/>
            <a:ext cx="4570095" cy="2573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762619" y="1590040"/>
            <a:ext cx="10813431" cy="487743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文本框 19"/>
          <p:cNvSpPr txBox="1"/>
          <p:nvPr/>
        </p:nvSpPr>
        <p:spPr>
          <a:xfrm>
            <a:off x="1471295" y="1778000"/>
            <a:ext cx="45402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工具要按意图分组</a:t>
            </a:r>
            <a:endParaRPr lang="zh-CN" altLang="en-US" sz="20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529715" y="2293620"/>
            <a:ext cx="94742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本质上是：把 </a:t>
            </a:r>
            <a:r>
              <a:rPr lang="en-US" altLang="zh-CN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workflow </a:t>
            </a:r>
            <a:r>
              <a:rPr lang="zh-CN" alt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提前封装</a:t>
            </a:r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不让模型自己组合几十个细粒度工具；而是在 </a:t>
            </a:r>
            <a:r>
              <a:rPr lang="en-US" altLang="zh-CN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Server </a:t>
            </a:r>
            <a:r>
              <a:rPr lang="zh-CN" alt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里直接实现高层任务。</a:t>
            </a:r>
            <a:endParaRPr lang="zh-CN" alt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7245" y="3215640"/>
            <a:ext cx="5927090" cy="3175000"/>
          </a:xfrm>
          <a:prstGeom prst="rect">
            <a:avLst/>
          </a:prstGeom>
        </p:spPr>
      </p:pic>
      <p:sp>
        <p:nvSpPr>
          <p:cNvPr id="5" name="AutoShape 3"/>
          <p:cNvSpPr/>
          <p:nvPr/>
        </p:nvSpPr>
        <p:spPr>
          <a:xfrm>
            <a:off x="741045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的解决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29715" y="3000375"/>
            <a:ext cx="9349740" cy="13881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8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用户需求：从讨论串 #123 的内容创建一个工单并带上所有附件。</a:t>
            </a:r>
            <a:endParaRPr lang="zh-CN" altLang="en-US" sz="18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762619" y="1590040"/>
            <a:ext cx="10813431" cy="487743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文本框 19"/>
          <p:cNvSpPr txBox="1"/>
          <p:nvPr/>
        </p:nvSpPr>
        <p:spPr>
          <a:xfrm>
            <a:off x="1287145" y="1875790"/>
            <a:ext cx="45402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Programmatic Tool Calling</a:t>
            </a:r>
            <a:endParaRPr lang="en-US" altLang="zh-CN" sz="28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287145" y="2719705"/>
            <a:ext cx="10121265" cy="25533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传统 tool use 是：模型调用一个工具，结果进入上下文；模型再读结果，再调用下一个工具；如此循环。</a:t>
            </a:r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产生两个问题：中间结果污染上下文  + 每一步都需要一次完整模型推理</a:t>
            </a:r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工具返回的结果不再直接丢回给模型，而是在代码执行沙箱里处理。Agent 可以在沙箱里循环、过滤、聚合，只把最终结果返回到上下文</a:t>
            </a:r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在复杂多步工作流上减少了约 37% 的 token 消耗</a:t>
            </a:r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sp>
        <p:nvSpPr>
          <p:cNvPr id="4" name="AutoShape 3"/>
          <p:cNvSpPr/>
          <p:nvPr/>
        </p:nvSpPr>
        <p:spPr>
          <a:xfrm>
            <a:off x="741045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Anthropic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的解决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41045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Cloudflare 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的实践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--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代码编排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2"/>
            </p:custDataLst>
          </p:nvPr>
        </p:nvSpPr>
        <p:spPr>
          <a:xfrm>
            <a:off x="762619" y="1590040"/>
            <a:ext cx="10813431" cy="4877435"/>
          </a:xfrm>
          <a:prstGeom prst="roundRect">
            <a:avLst>
              <a:gd name="adj" fmla="val 5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文本框 3"/>
          <p:cNvSpPr txBox="1"/>
          <p:nvPr/>
        </p:nvSpPr>
        <p:spPr>
          <a:xfrm>
            <a:off x="913130" y="1734185"/>
            <a:ext cx="10513060" cy="47694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Cloudflare 的 MCP 服务器，覆盖了大约 2,500 个 API 端点</a:t>
            </a:r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sz="2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传统方式：把这 2,500 个端点的工具定义全塞进上下文</a:t>
            </a:r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sz="2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Cloudflare ：只暴露 2 个工具：search 和 execute</a:t>
            </a:r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先用 search 找到需要的 API，然后写一段简短的脚本，通过 execute 在服务端沙箱里跑</a:t>
            </a:r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整个工具定义，只占大约 1K tokens。</a:t>
            </a:r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 CLI 的哲学搬进了 MCP 协议里。</a:t>
            </a:r>
            <a:endParaRPr lang="en-US" sz="24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MCP与Skills：互补而非替代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88440"/>
            <a:ext cx="10532110" cy="5197475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238885" y="1584960"/>
            <a:ext cx="9577705" cy="301879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l"/>
              <a:defRPr/>
            </a:pPr>
            <a:r>
              <a:rPr lang="en-US" sz="28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Skills —— Agent的“</a:t>
            </a:r>
            <a:r>
              <a:rPr lang="zh-CN" altLang="en-US" sz="28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操作手册</a:t>
            </a:r>
            <a:r>
              <a:rPr lang="en-US" sz="2800" b="1">
                <a:solidFill>
                  <a:schemeClr val="tx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”</a:t>
            </a:r>
            <a:endParaRPr lang="en-US" sz="2800">
              <a:solidFill>
                <a:schemeClr val="tx1"/>
              </a:solidFill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</a:t>
            </a:r>
            <a:r>
              <a:rPr 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完成任务的过程知识</a:t>
            </a:r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，指导Agent如何正确串联工具完成复杂工作流。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zh-CN" alt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它通常是一个文件夹/压缩包，例如：</a:t>
            </a:r>
            <a:endParaRPr lang="en-US" altLang="zh-CN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altLang="zh-CN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my-skill/</a:t>
            </a:r>
            <a:endParaRPr lang="en-US" altLang="zh-CN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altLang="zh-CN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SKILL.md          # </a:t>
            </a:r>
            <a:r>
              <a:rPr lang="zh-CN" altLang="en-US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核心说明文件</a:t>
            </a:r>
            <a:endParaRPr lang="zh-CN" altLang="en-US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altLang="zh-CN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references/       # </a:t>
            </a:r>
            <a:r>
              <a:rPr lang="zh-CN" altLang="en-US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可选：详细文档、规范、示例</a:t>
            </a:r>
            <a:endParaRPr lang="zh-CN" altLang="en-US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altLang="zh-CN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├── scripts/          # </a:t>
            </a:r>
            <a:r>
              <a:rPr lang="zh-CN" altLang="en-US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可选：可执行脚本</a:t>
            </a:r>
            <a:endParaRPr lang="zh-CN" altLang="en-US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08000"/>
              </a:lnSpc>
              <a:spcBef>
                <a:spcPts val="800"/>
              </a:spcBef>
            </a:pPr>
            <a:r>
              <a:rPr lang="en-US" altLang="zh-CN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└── assets/           # </a:t>
            </a:r>
            <a:r>
              <a:rPr lang="zh-CN" altLang="en-US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可选：模板、图片、表格等资源</a:t>
            </a:r>
            <a:endParaRPr lang="zh-CN" altLang="en-US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098550" y="5060950"/>
            <a:ext cx="10260965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457200" indent="-457200" algn="l">
              <a:lnSpc>
                <a:spcPct val="100000"/>
              </a:lnSpc>
              <a:buFont typeface="Wingdings" panose="05000000000000000000" charset="0"/>
              <a:buChar char="l"/>
              <a:defRPr/>
            </a:pPr>
            <a:r>
              <a:rPr lang="en-US" sz="2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协同工作的典型范式</a:t>
            </a:r>
            <a:endParaRPr lang="en-US" sz="2800"/>
          </a:p>
          <a:p>
            <a:pPr indent="0" algn="l">
              <a:lnSpc>
                <a:spcPct val="117000"/>
              </a:lnSpc>
              <a:spcBef>
                <a:spcPts val="600"/>
              </a:spcBef>
            </a:pP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 Cowork Data Plugin：</a:t>
            </a: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由10个Skills + 8个MCP Server深度协同，完成复杂的数据处理。</a:t>
            </a:r>
            <a:br>
              <a:rPr lang="en-US" sz="20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20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</a:t>
            </a: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生态趋势：</a:t>
            </a:r>
            <a:r>
              <a:rPr lang="en-US" sz="20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Canva、Notion等工具厂商发布MCP Server的同时，同步提供配套的Skill，实现开箱即用。</a:t>
            </a:r>
            <a:endParaRPr lang="en-US" sz="20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74395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488440"/>
            <a:ext cx="10532110" cy="478282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文本框 5"/>
          <p:cNvSpPr txBox="1"/>
          <p:nvPr/>
        </p:nvSpPr>
        <p:spPr>
          <a:xfrm>
            <a:off x="1379220" y="1995170"/>
            <a:ext cx="5406390" cy="3987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正在成为云端 Agent 的标准化接入层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本地开发环境 → CLI + Skills，轻量、快速、上下文干净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云端生产环境 → MCP + Skills，标准化、跨平台、认证完备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简单场景 → 直连 API</a:t>
            </a:r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2575" y="1994535"/>
            <a:ext cx="4583430" cy="3088005"/>
          </a:xfrm>
          <a:prstGeom prst="rect">
            <a:avLst/>
          </a:prstGeom>
        </p:spPr>
      </p:pic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idx="2"/>
            <p:custDataLst>
              <p:tags r:id="rId1"/>
            </p:custDataLst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>
                <a:solidFill>
                  <a:schemeClr val="bg1">
                    <a:lumMod val="50000"/>
                  </a:schemeClr>
                </a:solidFill>
              </a:rPr>
              <a:t>Part </a:t>
            </a:r>
            <a:r>
              <a:rPr>
                <a:solidFill>
                  <a:schemeClr val="bg1">
                    <a:lumMod val="50000"/>
                  </a:schemeClr>
                </a:solidFill>
              </a:rPr>
              <a:t>Two</a:t>
            </a:r>
            <a:endParaRPr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 idx="1"/>
            <p:custDataLst>
              <p:tags r:id="rId2"/>
            </p:custDataLst>
          </p:nvPr>
        </p:nvSpPr>
        <p:spPr>
          <a:xfrm>
            <a:off x="857250" y="2505075"/>
            <a:ext cx="9911715" cy="1399540"/>
          </a:xfrm>
        </p:spPr>
        <p:txBody>
          <a:bodyPr/>
          <a:lstStyle/>
          <a:p>
            <a:r>
              <a:rPr lang="en-US" altLang="zh-CN" sz="4000"/>
              <a:t>Best practices for computer and browser use with claude</a:t>
            </a:r>
            <a:endParaRPr lang="en-US" altLang="zh-CN" sz="4000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74395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 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API，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 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CLI，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也没有 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MCP server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该怎么办呢？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762000" y="1488440"/>
            <a:ext cx="10532110" cy="4782820"/>
          </a:xfrm>
          <a:prstGeom prst="roundRect">
            <a:avLst>
              <a:gd name="adj" fmla="val 96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文本框 5"/>
          <p:cNvSpPr txBox="1"/>
          <p:nvPr/>
        </p:nvSpPr>
        <p:spPr>
          <a:xfrm>
            <a:off x="1181735" y="1854835"/>
            <a:ext cx="9828530" cy="3987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连接外部世界的方式分成两大类。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第一类是</a:t>
            </a:r>
            <a:r>
              <a:rPr lang="zh-CN" altLang="en-US" sz="24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结构化行动接口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比如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API、CLI、MCP。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它们的特点是：外部系统主动把能力暴露成机器可读的形式。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暴露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endpoint，CLI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暴露命令，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暴露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tools、resources、prompts、apps、elicitation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等协议能力。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第二类是 </a:t>
            </a:r>
            <a:r>
              <a:rPr lang="zh-CN" altLang="en-US" sz="24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非结构化行动接口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典型代表就是</a:t>
            </a:r>
            <a:r>
              <a:rPr lang="zh-CN" altLang="en-US" sz="24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zh-CN" sz="24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Computer Use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。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它的特点是：外部系统没有专门给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暴露接口，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只能像人一样看屏幕、移动鼠标、点击按钮、输入文字。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overrideClrMapping bg1="lt1" tx1="dk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98220"/>
            <a:ext cx="10532110" cy="554482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什么是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Computer Use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055" y="1360805"/>
            <a:ext cx="9651365" cy="3629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Anthropic对 Claude 的 computer use 描述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模型可以通过“看屏幕、移动光标、点击按钮、输入文本”的方式使用电脑。</a:t>
            </a:r>
            <a:endParaRPr 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例如，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提交一份报销：</a:t>
            </a:r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如果公司有报销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API，Agent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可以直接调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API；</a:t>
            </a:r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如果有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CLI，Agent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可以运行命令；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如果有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server，Agent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可以调用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submit_expense_report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工具；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如果什么都没有，只有一个网页表单，那么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只能打开浏览器、看页面、点击按钮、填写字段、上传文件。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98220"/>
            <a:ext cx="10532110" cy="554482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Computer Use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能做什么？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055" y="1212215"/>
            <a:ext cx="9859010" cy="51517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Font typeface="Wingdings" panose="05000000000000000000" charset="0"/>
              <a:buChar char="l"/>
            </a:pPr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网页自动化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例如搜索商品、比价、填写表单、预订餐厅、整理网页信息、提交网页申请、登录后台查数据等。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OpenAI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Operator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就是基于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CUA，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让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使用自己的浏览器，通过截图和鼠标键盘动作完成网页任务。</a:t>
            </a:r>
            <a:endParaRPr lang="en-US" altLang="zh-CN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桌面软件操作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例如打开文件管理器、操作浏览器、使用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LibreOffice / Excel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类软件、编辑文档、保存图片、运行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测试等。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Anthropic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的文档明确说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computer use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工具提供截图、鼠标控制、键盘输入和桌面自动化能力，可以与任意应用或界面交互。</a:t>
            </a:r>
            <a:endParaRPr lang="en-US" altLang="zh-CN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跨系统流程执行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例如“从邮件里找发票 → 下载附件 → 打开表格 → 填入报销系统 → 等我确认后提交”。这类任务过去需要多个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API、RPA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脚本或人工操作；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Computer use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的优势是可以直接操作那些没有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API、API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难用、或只面向人类界面的系统。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软件测试与 UI 验证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比如让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自动打开网页、检查按钮是否存在、填写测试数据、观察报错、复现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bug。Google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把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Gemini 2.5 Computer Use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定位为适合浏览器自动化、多步软件任务和需要视觉推理与精确光标控制的 </a:t>
            </a:r>
            <a:r>
              <a:rPr lang="en-US" altLang="zh-CN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1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测试。</a:t>
            </a:r>
            <a:endParaRPr lang="zh-CN" altLang="en-US" sz="1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3238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Computer Use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如何实现的？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055" y="998220"/>
            <a:ext cx="9651365" cy="3629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它的基本执行流程是一个 </a:t>
            </a:r>
            <a:r>
              <a:rPr lang="en-US" altLang="zh-CN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loop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感知—推理—行动循环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第一步：感知屏幕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系统把当前浏览器或桌面的截图传给模型。模型通过视觉能力识别页面结构：按钮在哪里、输入框在哪里、弹窗是什么、当前任务进度如何。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第二步：推理和规划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模型根据用户目标、当前截图、历史动作，决定下一步应该做什么。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第三步：输出动作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Claude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本身不会直接连接电脑环境；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Claude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发出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tool use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请求，把它翻译成真实环境中的动作，开发者的应用在虚拟机或容器中执行这个动作；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sz="24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第四步：返回新截图，继续循环</a:t>
            </a:r>
            <a:endParaRPr lang="en-US" sz="2400" b="1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动作执行后，系统重新截图并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返回模型。模型判断任务是否完成；如果没完成，就继续下一步。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Computer Use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的难点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2055" y="998220"/>
            <a:ext cx="9750425" cy="3629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至少有三类误差。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一是</a:t>
            </a:r>
            <a:r>
              <a:rPr lang="zh-CN" altLang="en-US" sz="21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感知误差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模型可能没看懂界面，或者小按钮太小，文字太模糊，当前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状态和任务目标不匹配。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二是 </a:t>
            </a:r>
            <a:r>
              <a:rPr lang="zh-CN" altLang="en-US" sz="21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执行误差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模型可能知道要点哪个按钮，但坐标偏了；或者页面滚动后目标位置变了；或者弹窗出现后原计划失效。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三是 </a:t>
            </a:r>
            <a:r>
              <a:rPr lang="zh-CN" altLang="en-US" sz="21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安全误差</a:t>
            </a:r>
            <a:endParaRPr lang="en-US" altLang="zh-CN" sz="21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Computer Use Agent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接触的是网页、邮件、截图和真实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UI，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这些内容本身都可能是不可信的，可能包含隐藏文本、操控图像、欺骗性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或社会工程指令，从而诱导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执行错误行为。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Computer Use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的研究难点不是“让模型会看图”，而是：</a:t>
            </a:r>
            <a:endParaRPr lang="en-US" altLang="zh-CN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如何让视觉-动作闭环在真实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中可靠、可恢复、可审计、可限制。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00100" y="26543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Anthropic 的最佳实践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3760" y="998220"/>
            <a:ext cx="10342245" cy="536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想让 </a:t>
            </a:r>
            <a:r>
              <a:rPr lang="en-US" altLang="zh-CN" sz="2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agent </a:t>
            </a:r>
            <a:r>
              <a:rPr lang="zh-CN" altLang="en-US" sz="2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点得更准，请先把截图缩小。</a:t>
            </a:r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Claude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的内部有一个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硬性图片分辨率上限，超过了这个限制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: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会自动缩小图片。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问题在于：模型看到的是缩小后的截图，返回的坐标也是基于缩小后的尺寸，而客户端还在用原始分辨率去执行点击。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解法：自己先把图片缩小，不要让 </a:t>
            </a:r>
            <a:r>
              <a:rPr lang="en-US" altLang="zh-CN" sz="24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API </a:t>
            </a:r>
            <a:r>
              <a:rPr lang="zh-CN" altLang="en-US" sz="24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缩。</a:t>
            </a:r>
            <a:endParaRPr lang="zh-CN" altLang="en-US" sz="24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不过缩完了之后要记得一件事：坐标要缩放回去。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模型返回的点击坐标是基于你发送的缩小尺寸，执行的时候得乘以缩放系数还原到屏幕真实坐标。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00100" y="26543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Anthropic 的最佳实践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3760" y="998220"/>
            <a:ext cx="10342245" cy="536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先说再看</a:t>
            </a:r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在构造消息时，要记得把文字指令放在图片前面。</a:t>
            </a:r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8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原理在于，模型先读到「点击提交按钮」，再看截图，就知道该找什么了。如果先看图再看指令，模型还得回头重新理解图片，准确率会有所下降。</a:t>
            </a:r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075" y="4422140"/>
            <a:ext cx="5229225" cy="143827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00100" y="26543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Anthropic 的最佳实践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3760" y="998220"/>
            <a:ext cx="10342245" cy="536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谁点的准</a:t>
            </a:r>
            <a:endParaRPr lang="zh-CN" altLang="en-US" sz="28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Sonnet 4.6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的点击精度最高，空间定位准，近距离失误少，而且对图片压缩的容忍度也更好。适合大部分机械执行类任务。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Opus 4.7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的推理能力更强，而且点击精度已经追上了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Sonnet 4.6.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加上它的分辨率预算更大（3.75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MP vs 1.15MP），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需要压缩的幅度也更小。如果任务既需要推理又需要精准点击，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Opus 4.7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是目前的最优解。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Haiku 4.5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则是延迟优先的选择，适合对速度要求极高的场景。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对于复杂工作流，这里还有一个高级模式：用一个推理能力强的模型做「指挥官」负责规划和决策，再让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Sonnet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或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Haiku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去执行具体的点击操作。分工协作，各司其职。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5380" y="4955540"/>
            <a:ext cx="3930015" cy="141097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1175" y="4955540"/>
            <a:ext cx="3661410" cy="14097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00100" y="26543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Anthropic 的最佳实践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4395" y="998220"/>
            <a:ext cx="10342245" cy="536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0" indent="0">
              <a:buFont typeface="Wingdings" panose="05000000000000000000" charset="0"/>
              <a:buNone/>
            </a:pPr>
            <a:r>
              <a:rPr lang="zh-CN" altLang="en-US" sz="2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防御体系</a:t>
            </a:r>
            <a:endParaRPr lang="zh-CN" altLang="en-US" sz="28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训练层面，模型在训练时就接触过大量含有注入内容的网页和应用界面，通过强化学习学会了识别和拒绝恶意指令。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0" indent="0">
              <a:buFont typeface="Wingdings" panose="05000000000000000000" charset="0"/>
              <a:buNone/>
            </a:pPr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实时分类器，在每次请求时并行扫描进入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Claude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上下文的内容，检测文本中隐藏的指令、图片中嵌入的指令、以及试图欺骗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的伪造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元素。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持续红队测试，安全研究人员不断试探防线，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Anthropic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还参与外部对抗评估来检验防御效果。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endParaRPr lang="en-US" altLang="zh-CN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pPr marL="342900" indent="-342900">
              <a:buFont typeface="Wingdings" panose="05000000000000000000" charset="0"/>
              <a:buChar char="l"/>
            </a:pP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最有效的防御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human-in-the-loop：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在执行不可逆操作（提交表单、付款、发消息、改数据）之前，让 </a:t>
            </a:r>
            <a:r>
              <a:rPr lang="en-US" altLang="zh-CN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4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暂停，请用户确认。</a:t>
            </a:r>
            <a:endParaRPr lang="zh-CN" altLang="en-US" sz="24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00100" y="26543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+mn-ea"/>
              </a:rPr>
              <a:t>Anthropic 的最佳实践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74395" y="1119505"/>
            <a:ext cx="10342245" cy="5367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教学模式</a:t>
            </a:r>
            <a:endParaRPr lang="zh-CN" altLang="en-US" sz="28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800" b="1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用户先手动执行一遍任务，系统录制每一步操作，包括点击坐标、输入内容、页面导航，每步都配一张截图，截图上用蓝色圆圈标注了用户点击的位置。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回放的时候，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Claude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收到的是完整的操作示范：「第 1 步，点击费用类型下拉菜单」配一张标注了蓝圈的截图，「第 2 步，选择差旅类型」配下一张截图……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Claude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看着这些示范，在当前真实环境里执行相同的操作序列。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Anthropic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设计了三种回放模式：</a:t>
            </a:r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 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严格模式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：完全按步骤执行，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变化太大就停下来报告。适合合规敏感的场景 </a:t>
            </a:r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 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自适应模式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：以示范为参考但灵活调整，能应对轻微的布局变化、按钮改名、菜单重排。</a:t>
            </a:r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• 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目标导向模式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：只关注最终结果，录制的步骤只是参考，不是必须遵循的指令。适合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经常变但目标不变的场景 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575435"/>
            <a:ext cx="10532110" cy="4967605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25908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Claude Code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工具选择优先级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450" y="1790065"/>
            <a:ext cx="8404860" cy="45389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1752600"/>
            <a:ext cx="10532110" cy="393827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3378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最新案例：</a:t>
            </a:r>
            <a:r>
              <a:rPr lang="en-US" altLang="zh-CN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Peekaboo</a:t>
            </a:r>
            <a:endParaRPr lang="en-US" altLang="zh-CN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674235" y="2507615"/>
            <a:ext cx="6441440" cy="2719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Peekaboo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是一款专为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macOS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打造的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原生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自动化工具，由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PSPDFKit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前创始人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Peter Steinberger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发起，现由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OpenClaw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社区维护。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"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macOS automation toolkit for humans and agents"</a:t>
            </a:r>
            <a:endParaRPr lang="en-US" altLang="zh-CN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（面向人类和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AI Agent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的 </a:t>
            </a:r>
            <a:r>
              <a:rPr lang="en-US" altLang="zh-CN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macOS </a:t>
            </a:r>
            <a:r>
              <a:rPr lang="zh-CN" altLang="en-US" sz="21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自动化工具包）</a:t>
            </a:r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zh-CN" altLang="en-US" sz="21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887730" y="2507615"/>
            <a:ext cx="3653155" cy="27197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900430"/>
            <a:ext cx="10532110" cy="5642610"/>
          </a:xfrm>
          <a:prstGeom prst="roundRect">
            <a:avLst>
              <a:gd name="adj" fmla="val 1043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3"/>
          <p:cNvSpPr/>
          <p:nvPr/>
        </p:nvSpPr>
        <p:spPr>
          <a:xfrm>
            <a:off x="874395" y="-109220"/>
            <a:ext cx="10419080" cy="12287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</a:t>
            </a:r>
            <a:r>
              <a:rPr lang="zh-CN" alt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能力</a:t>
            </a:r>
            <a:endParaRPr lang="zh-CN" altLang="en-US" sz="32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64895" y="1263015"/>
            <a:ext cx="10062210" cy="36296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第一，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视觉感知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它支持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pixel-accurate captures，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可以捕获窗口、屏幕、菜单栏，还可以做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Retina 2x scaling。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它也可以通过 `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see`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命令返回带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元素标注的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snapshot，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让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Agent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不只是看到像素，还能看到可操作元素。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第二，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动作执行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它支持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click、type、scroll、hotkey、menu、window、app、dock、space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等操作，这些基本覆盖了人类在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macOS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上的大部分常见交互。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第三，</a:t>
            </a:r>
            <a:r>
              <a:rPr lang="en-US" altLang="zh-CN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Accessibility Tree 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结合像素视觉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这点非常关键。纯截图方式只能让模型从像素里猜按钮在哪里，而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Accessibility Tree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可以提供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UI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元素的类型、标签、可执行动作和值。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第四，</a:t>
            </a:r>
            <a:r>
              <a:rPr lang="en-US" altLang="zh-CN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Server </a:t>
            </a:r>
            <a:r>
              <a:rPr lang="zh-CN" altLang="en-US" sz="2000" b="1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化</a:t>
            </a:r>
            <a:endParaRPr lang="zh-CN" altLang="en-US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  <a:p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 Peekaboo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可以作为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server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运行，把本地桌面自动化能力暴露给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Codex、Claude Code、Cursor </a:t>
            </a:r>
            <a:r>
              <a:rPr lang="zh-CN" altLang="en-US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等 </a:t>
            </a:r>
            <a:r>
              <a:rPr lang="en-US" altLang="zh-CN" sz="2000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</a:rPr>
              <a:t>MCP client。</a:t>
            </a:r>
            <a:endParaRPr lang="en-US" altLang="zh-CN" sz="2000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1778000"/>
            <a:ext cx="12192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9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83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4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24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2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3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4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4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48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71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82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83.xml><?xml version="1.0" encoding="utf-8"?>
<p:tagLst xmlns:p="http://schemas.openxmlformats.org/presentationml/2006/main">
  <p:tag name="KSO_WM_UNIT_PLACING_PICTURE_USER_VIEWPORT" val="{&quot;height&quot;:10800,&quot;width&quot;:19200}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84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  <p:tag name="KSO_WM_UNIT_CONTENT_GROUP_TYPE" val="contentchip"/>
</p:tagLst>
</file>

<file path=ppt/tags/tag86.xml><?xml version="1.0" encoding="utf-8"?>
<p:tagLst xmlns:p="http://schemas.openxmlformats.org/presentationml/2006/main">
  <p:tag name="KSO_WM_UNIT_PRESET_TEXT" val="Simple &amp; Creative"/>
  <p:tag name="KSO_WM_UNIT_NOCLEAR" val="0"/>
  <p:tag name="KSO_WM_UNIT_VALUE" val="48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PA" val="v5.2.11"/>
</p:tagLst>
</file>

<file path=ppt/tags/tag9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PRESET_TEXT" val="单击此处编辑母版文本样式&#10;第二级&#10;第三级&#10;第四级&#10;第五级"/>
  <p:tag name="PA" val="v5.2.11"/>
  <p:tag name="KSO_WM_UNIT_TEXT_LAYER_COUNT" val="1"/>
</p:tagLst>
</file>

<file path=ppt/tags/tag9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文档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2*i*2"/>
  <p:tag name="KSO_WM_UNIT_LAYERLEVEL" val="1"/>
  <p:tag name="KSO_WM_TAG_VERSION" val="3.0"/>
  <p:tag name="KSO_WM_BEAUTIFY_FLAG" val="#wm#"/>
  <p:tag name="KSO_WM_UNIT_CONTENT_GROUP_TYPE" val="titlestyle"/>
  <p:tag name="PA" val="v5.2.1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3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</p:tagLst>
</file>

<file path=ppt/tags/tag99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105.xml><?xml version="1.0" encoding="utf-8"?>
<p:tagLst xmlns:p="http://schemas.openxmlformats.org/presentationml/2006/main">
  <p:tag name="KSO_WM_BEAUTIFY_FLAG" val="#wm#"/>
  <p:tag name="KSO_WM_UNIT_LINE_FORE_SCHEMECOLOR_INDEX_BRIGHTNESS" val="0"/>
  <p:tag name="KSO_WM_UNIT_LINE_FORE_SCHEMECOLOR_INDEX" val="5"/>
  <p:tag name="KSO_WM_UNIT_LINE_FILL_TYPE" val="2"/>
  <p:tag name="KSO_WM_UNIT_HIGHLIGHT" val="0"/>
  <p:tag name="KSO_WM_UNIT_COMPATIBLE" val="0"/>
  <p:tag name="KSO_WM_UNIT_DIAGRAM_ISNUMVISUAL" val="0"/>
  <p:tag name="KSO_WM_UNIT_DIAGRAM_ISREFERUNIT" val="0"/>
  <p:tag name="KSO_WM_UNIT_CONTENT_GROUP_TYPE" val="contentchip"/>
  <p:tag name="KSO_WM_UNIT_TYPE" val="i"/>
  <p:tag name="KSO_WM_UNIT_INDEX" val="4"/>
  <p:tag name="KSO_WM_UNIT_ID" val="_4*i*4"/>
  <p:tag name="KSO_WM_UNIT_LAYERLEVEL" val="1"/>
  <p:tag name="KSO_WM_TAG_VERSION" val="3.0"/>
</p:tagLst>
</file>

<file path=ppt/tags/tag106.xml><?xml version="1.0" encoding="utf-8"?>
<p:tagLst xmlns:p="http://schemas.openxmlformats.org/presentationml/2006/main">
  <p:tag name="KSO_WM_UNIT_PRESET_TEXT" val="Part One"/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</p:tagLst>
</file>

<file path=ppt/tags/tag10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章节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  <p:tag name="KSO_WM_UNIT_CONTENT_GROUP_TYPE" val="contentchip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1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5*i*1"/>
  <p:tag name="KSO_WM_UNIT_LAYERLEVEL" val="1"/>
  <p:tag name="KSO_WM_TAG_VERSION" val="3.0"/>
</p:tagLst>
</file>

<file path=ppt/tags/tag11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  <p:tag name="KSO_WM_UNIT_CONTENT_GROUP_TYPE" val="titlestyle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5*i*2"/>
  <p:tag name="KSO_WM_UNIT_LAYERLEVEL" val="1"/>
  <p:tag name="KSO_WM_TAG_VERSION" val="3.0"/>
  <p:tag name="KSO_WM_BEAUTIFY_FLAG" val="#wm#"/>
  <p:tag name="KSO_WM_UNIT_CONTENT_GROUP_TYPE" val="titlestyle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1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1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6*i*1"/>
  <p:tag name="KSO_WM_UNIT_LAYERLEVEL" val="1"/>
  <p:tag name="KSO_WM_TAG_VERSION" val="3.0"/>
</p:tagLst>
</file>

<file path=ppt/tags/tag120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小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2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  <p:tag name="KSO_WM_UNIT_CONTENT_GROUP_TYPE" val="titlestyle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6*i*2"/>
  <p:tag name="KSO_WM_UNIT_LAYERLEVEL" val="1"/>
  <p:tag name="KSO_WM_TAG_VERSION" val="3.0"/>
  <p:tag name="KSO_WM_UNIT_CONTENT_GROUP_TYPE" val="titlestyle"/>
</p:tagLst>
</file>

<file path=ppt/tags/tag1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2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12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7*i*1"/>
  <p:tag name="KSO_WM_UNIT_LAYERLEVEL" val="1"/>
  <p:tag name="KSO_WM_TAG_VERSION" val="3.0"/>
</p:tagLst>
</file>

<file path=ppt/tags/tag130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  <p:tag name="KSO_WM_UNIT_CONTENT_GROUP_TYPE" val="titlestyle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7*i*2"/>
  <p:tag name="KSO_WM_UNIT_LAYERLEVEL" val="1"/>
  <p:tag name="KSO_WM_TAG_VERSION" val="3.0"/>
  <p:tag name="KSO_WM_BEAUTIFY_FLAG" val="#wm#"/>
  <p:tag name="KSO_WM_UNIT_CONTENT_GROUP_TYPE" val="titlestyle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1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8*i*1"/>
  <p:tag name="KSO_WM_UNIT_LAYERLEVEL" val="1"/>
  <p:tag name="KSO_WM_TAG_VERSION" val="3.0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13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9*i*1"/>
  <p:tag name="KSO_WM_UNIT_LAYERLEVEL" val="1"/>
  <p:tag name="KSO_WM_TAG_VERSION" val="3.0"/>
</p:tagLst>
</file>

<file path=ppt/tags/tag1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  <p:tag name="KSO_WM_UNIT_PRESET_TEXT" val="单击此处编辑母版文本样式&#10;第二级&#10;第三级&#10;第四级&#10;第五级"/>
  <p:tag name="KSO_WM_UNIT_TEXT_LAYER_COUNT" val="1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1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0*i*1"/>
  <p:tag name="KSO_WM_UNIT_LAYERLEVEL" val="1"/>
  <p:tag name="KSO_WM_TAG_VERSION" val="3.0"/>
</p:tagLst>
</file>

<file path=ppt/tags/tag14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副标题"/>
  <p:tag name="KSO_WM_UNIT_NOCLEAR" val="0"/>
  <p:tag name="KSO_WM_UNIT_VALUE" val="17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  <p:tag name="KSO_WM_UNIT_TEXT_FILL_FORE_SCHEMECOLOR_INDEX_BRIGHTNESS" val="0.25"/>
  <p:tag name="KSO_WM_UNIT_TEXT_FILL_FORE_SCHEMECOLOR_INDEX" val="13"/>
  <p:tag name="KSO_WM_UNIT_TEXT_FILL_TYPE" val="1"/>
  <p:tag name="KSO_WM_UNIT_CONTENT_GROUP_TYPE" val="titlestyle"/>
</p:tagLst>
</file>

<file path=ppt/tags/tag146.xml><?xml version="1.0" encoding="utf-8"?>
<p:tagLst xmlns:p="http://schemas.openxmlformats.org/presentationml/2006/main">
  <p:tag name="KSO_WM_UNIT_ISCONTENTSTITLE" val="0"/>
  <p:tag name="KSO_WM_UNIT_ISNUMDGMTITLE" val="0"/>
  <p:tag name="KSO_WM_UNIT_PRESET_TEXT" val="正文页-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  <p:tag name="KSO_WM_UNIT_CONTENT_GROUP_TYPE" val="titlestyle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CONTENT_GROUP_TYPE" val="titlestyle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15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UNIT_TYPE" val="i"/>
  <p:tag name="KSO_WM_UNIT_INDEX" val="1"/>
</p:tagLst>
</file>

<file path=ppt/tags/tag152.xml><?xml version="1.0" encoding="utf-8"?>
<p:tagLst xmlns:p="http://schemas.openxmlformats.org/presentationml/2006/main">
  <p:tag name="KSO_WM_UNIT_ISCONTENTSTITLE" val="0"/>
  <p:tag name="KSO_WM_UNIT_ISNUMDGMTITLE" val="0"/>
  <p:tag name="KSO_WM_UNIT_PRESET_TEXT" val="感谢您的观看与聆听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  <p:tag name="KSO_WM_UNIT_CONTENT_GROUP_TYPE" val="contentchip"/>
</p:tagLst>
</file>

<file path=ppt/tags/tag153.xml><?xml version="1.0" encoding="utf-8"?>
<p:tagLst xmlns:p="http://schemas.openxmlformats.org/presentationml/2006/main">
  <p:tag name="KSO_WM_UNIT_SUBTYPE" val="b"/>
  <p:tag name="KSO_WM_UNIT_PRESET_TEXT" val="汇报人：稻小壳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TEXT_LAYER_COUNT" val="1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1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CONTENT_GROUP_TYPE" val="titlestyle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TEXT_LAYER_COUNT" val="1"/>
  <p:tag name="KSO_WM_TEMPLATE_CATEGORY" val="custom"/>
  <p:tag name="KSO_WM_TEMPLATE_INDEX" val="20230230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TEMPLATE_CATEGORY" val="custom"/>
  <p:tag name="KSO_WM_TEMPLATE_INDEX" val="20230230"/>
</p:tagLst>
</file>

<file path=ppt/tags/tag164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0230"/>
  <p:tag name="KSO_WM_TEMPLATE_THUMBS_INDEX" val="1、11"/>
</p:tagLst>
</file>

<file path=ppt/tags/tag165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0_9*e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_INDEX" val="-1"/>
  <p:tag name="KSO_WM_UNIT_PRESET_TEXT_LEN" val="0"/>
</p:tagLst>
</file>

<file path=ppt/tags/tag1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9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167.xml><?xml version="1.0" encoding="utf-8"?>
<p:tagLst xmlns:p="http://schemas.openxmlformats.org/presentationml/2006/main">
  <p:tag name="KSO_WM_SLIDE_ID" val="custom2023023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3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26.85&quot;,&quot;top&quot;:&quot;79.65&quot;,&quot;width&quot;:&quot;618.65&quot;,&quot;height&quot;:&quot;320.9&quot;}"/>
</p:tagLst>
</file>

<file path=ppt/tags/tag168.xml><?xml version="1.0" encoding="utf-8"?>
<p:tagLst xmlns:p="http://schemas.openxmlformats.org/presentationml/2006/main">
  <p:tag name="KSO_WM_DIAGRAM_VIRTUALLY_FRAME" val="{&quot;height&quot;:384.05,&quot;left&quot;:41.95,&quot;top&quot;:125.2,&quot;width&quot;:869.55}"/>
</p:tagLst>
</file>

<file path=ppt/tags/tag169.xml><?xml version="1.0" encoding="utf-8"?>
<p:tagLst xmlns:p="http://schemas.openxmlformats.org/presentationml/2006/main">
  <p:tag name="KSO_WM_DIAGRAM_VIRTUALLY_FRAME" val="{&quot;height&quot;:384.05,&quot;left&quot;:41.95,&quot;top&quot;:125.2,&quot;width&quot;:869.55}"/>
</p:tagLst>
</file>

<file path=ppt/tags/tag170.xml><?xml version="1.0" encoding="utf-8"?>
<p:tagLst xmlns:p="http://schemas.openxmlformats.org/presentationml/2006/main">
  <p:tag name="KSO_WM_DIAGRAM_VIRTUALLY_FRAME" val="{&quot;height&quot;:384.05,&quot;left&quot;:41.95,&quot;top&quot;:125.2,&quot;width&quot;:869.55}"/>
</p:tagLst>
</file>

<file path=ppt/tags/tag171.xml><?xml version="1.0" encoding="utf-8"?>
<p:tagLst xmlns:p="http://schemas.openxmlformats.org/presentationml/2006/main">
  <p:tag name="KSO_WM_DIAGRAM_VIRTUALLY_FRAME" val="{&quot;height&quot;:384.05,&quot;left&quot;:41.95,&quot;top&quot;:125.2,&quot;width&quot;:869.55}"/>
</p:tagLst>
</file>

<file path=ppt/tags/tag172.xml><?xml version="1.0" encoding="utf-8"?>
<p:tagLst xmlns:p="http://schemas.openxmlformats.org/presentationml/2006/main">
  <p:tag name="KSO_WM_UNIT_NOCLEAR" val="0"/>
  <p:tag name="KSO_WM_UNIT_VALUE" val="6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custom20230230_9*e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TEXT_FILL_FORE_SCHEMECOLOR_INDEX_BRIGHTNESS" val="-0.25"/>
  <p:tag name="KSO_WM_UNIT_TEXT_FILL_FORE_SCHEMECOLOR_INDEX" val="14"/>
  <p:tag name="KSO_WM_UNIT_TEXT_FILL_TYPE" val="1"/>
  <p:tag name="KSO_WM_UNIT_CONTENT_GROUP_TYPE" val="contentchip"/>
  <p:tag name="KSO_WM_UNIT_PRESET_TEXT_INDEX" val="-1"/>
  <p:tag name="KSO_WM_UNIT_PRESET_TEXT_LEN" val="0"/>
</p:tagLst>
</file>

<file path=ppt/tags/tag1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0230_9*a*1"/>
  <p:tag name="KSO_WM_TEMPLATE_CATEGORY" val="custom"/>
  <p:tag name="KSO_WM_TEMPLATE_INDEX" val="20230230"/>
  <p:tag name="KSO_WM_UNIT_LAYERLEVEL" val="1"/>
  <p:tag name="KSO_WM_TAG_VERSION" val="3.0"/>
  <p:tag name="KSO_WM_BEAUTIFY_FLAG" val="#wm#"/>
  <p:tag name="KSO_WM_UNIT_CONTENT_GROUP_TYPE" val="contentchip"/>
  <p:tag name="KSO_WM_UNIT_TEXT_TYPE" val="1"/>
  <p:tag name="KSO_WM_UNIT_PRESET_TEXT" val="添加章节标题"/>
</p:tagLst>
</file>

<file path=ppt/tags/tag174.xml><?xml version="1.0" encoding="utf-8"?>
<p:tagLst xmlns:p="http://schemas.openxmlformats.org/presentationml/2006/main">
  <p:tag name="KSO_WM_SLIDE_ID" val="custom20230230_9"/>
  <p:tag name="KSO_WM_TEMPLATE_SUBCATEGORY" val="29"/>
  <p:tag name="KSO_WM_TEMPLATE_MASTER_TYPE" val="0"/>
  <p:tag name="KSO_WM_TEMPLATE_COLOR_TYPE" val="0"/>
  <p:tag name="KSO_WM_SLIDE_ITEM_CNT" val="0"/>
  <p:tag name="KSO_WM_SLIDE_INDEX" val="9"/>
  <p:tag name="KSO_WM_TAG_VERSION" val="3.0"/>
  <p:tag name="KSO_WM_BEAUTIFY_FLAG" val="#wm#"/>
  <p:tag name="KSO_WM_TEMPLATE_CATEGORY" val="custom"/>
  <p:tag name="KSO_WM_TEMPLATE_INDEX" val="20230230"/>
  <p:tag name="KSO_WM_SLIDE_LAYOUT" val="a_e"/>
  <p:tag name="KSO_WM_SLIDE_LAYOUT_CNT" val="1_1"/>
  <p:tag name="KSO_WM_SLIDE_TYPE" val="sectionTitle"/>
  <p:tag name="KSO_WM_SLIDE_SUBTYPE" val="pureTxt"/>
  <p:tag name="KSO_WM_SLIDE_CONTENT_AREA" val="{&quot;left&quot;:&quot;26.85&quot;,&quot;top&quot;:&quot;79.65&quot;,&quot;width&quot;:&quot;618.65&quot;,&quot;height&quot;:&quot;320.9&quot;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1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1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1_Office 主题">
  <a:themeElements>
    <a:clrScheme name="自定义 61">
      <a:dk1>
        <a:srgbClr val="000000"/>
      </a:dk1>
      <a:lt1>
        <a:srgbClr val="FFFFFF"/>
      </a:lt1>
      <a:dk2>
        <a:srgbClr val="3F4D63"/>
      </a:dk2>
      <a:lt2>
        <a:srgbClr val="E7F0FD"/>
      </a:lt2>
      <a:accent1>
        <a:srgbClr val="116CEE"/>
      </a:accent1>
      <a:accent2>
        <a:srgbClr val="1B7ED6"/>
      </a:accent2>
      <a:accent3>
        <a:srgbClr val="268FBE"/>
      </a:accent3>
      <a:accent4>
        <a:srgbClr val="30A1A6"/>
      </a:accent4>
      <a:accent5>
        <a:srgbClr val="3BB28E"/>
      </a:accent5>
      <a:accent6>
        <a:srgbClr val="45C476"/>
      </a:accent6>
      <a:hlink>
        <a:srgbClr val="0563C1"/>
      </a:hlink>
      <a:folHlink>
        <a:srgbClr val="954F72"/>
      </a:folHlink>
    </a:clrScheme>
    <a:fontScheme name="自定义 13">
      <a:majorFont>
        <a:latin typeface="MiSans Heavy"/>
        <a:ea typeface="MiSans Heavy"/>
        <a:cs typeface=""/>
      </a:majorFont>
      <a:minorFont>
        <a:latin typeface="MiSans Ligh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>
          <a:noFill/>
          <a:prstDash val="solid"/>
        </a:ln>
        <a:effectLst>
          <a:outerShdw blurRad="203200" dist="101600" dir="8100000" algn="tr" rotWithShape="0">
            <a:srgbClr val="FF5DA9">
              <a:alpha val="10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1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1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1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1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5622</Words>
  <Application>WPS 演示</Application>
  <PresentationFormat/>
  <Paragraphs>272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22</vt:i4>
      </vt:variant>
      <vt:variant>
        <vt:lpstr>幻灯片标题</vt:lpstr>
      </vt:variant>
      <vt:variant>
        <vt:i4>28</vt:i4>
      </vt:variant>
    </vt:vector>
  </HeadingPairs>
  <TitlesOfParts>
    <vt:vector size="60" baseType="lpstr">
      <vt:lpstr>Arial</vt:lpstr>
      <vt:lpstr>宋体</vt:lpstr>
      <vt:lpstr>Wingdings</vt:lpstr>
      <vt:lpstr>Arial</vt:lpstr>
      <vt:lpstr>MiSans Heavy</vt:lpstr>
      <vt:lpstr>Wingdings</vt:lpstr>
      <vt:lpstr>Noto Sans SC</vt:lpstr>
      <vt:lpstr>微软雅黑</vt:lpstr>
      <vt:lpstr>Arial Unicode MS</vt:lpstr>
      <vt:lpstr>MiSans Light</vt:lpstr>
      <vt:lpstr>Office 主题​​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11_默认主题</vt:lpstr>
      <vt:lpstr>12_默认主题</vt:lpstr>
      <vt:lpstr>13_默认主题</vt:lpstr>
      <vt:lpstr>14_默认主题</vt:lpstr>
      <vt:lpstr>15_默认主题</vt:lpstr>
      <vt:lpstr>Office 主题</vt:lpstr>
      <vt:lpstr>1_Office 主题</vt:lpstr>
      <vt:lpstr>16_默认主题</vt:lpstr>
      <vt:lpstr>17_默认主题</vt:lpstr>
      <vt:lpstr>18_默认主题</vt:lpstr>
      <vt:lpstr>19_默认主题</vt:lpstr>
      <vt:lpstr>PowerPoint 演示文稿</vt:lpstr>
      <vt:lpstr>Building agents that reach production systems with MCP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Best practices for computer and browser use with claude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蓝莓雨</cp:lastModifiedBy>
  <cp:revision>8</cp:revision>
  <dcterms:created xsi:type="dcterms:W3CDTF">2026-05-12T14:50:00Z</dcterms:created>
  <dcterms:modified xsi:type="dcterms:W3CDTF">2026-05-22T08:44:38Z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36393293E036453B8FA6BE86160B77C0_12</vt:lpwstr>
  </property>
</Properties>
</file>